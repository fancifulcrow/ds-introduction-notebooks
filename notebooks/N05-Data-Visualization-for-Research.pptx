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75" r:id="rId3"/>
    <p:sldId id="257" r:id="rId4"/>
    <p:sldId id="262" r:id="rId5"/>
    <p:sldId id="277" r:id="rId6"/>
    <p:sldId id="259" r:id="rId7"/>
    <p:sldId id="276" r:id="rId8"/>
    <p:sldId id="267" r:id="rId9"/>
    <p:sldId id="268" r:id="rId10"/>
    <p:sldId id="270" r:id="rId11"/>
    <p:sldId id="271" r:id="rId12"/>
    <p:sldId id="272" r:id="rId13"/>
    <p:sldId id="273" r:id="rId14"/>
    <p:sldId id="274" r:id="rId15"/>
    <p:sldId id="265" r:id="rId16"/>
  </p:sldIdLst>
  <p:sldSz cx="18288000" cy="10287000"/>
  <p:notesSz cx="6858000" cy="9144000"/>
  <p:embeddedFontLst>
    <p:embeddedFont>
      <p:font typeface="Nunito" pitchFamily="2" charset="0"/>
      <p:regular r:id="rId17"/>
      <p:bold r:id="rId18"/>
    </p:embeddedFont>
    <p:embeddedFont>
      <p:font typeface="Nunito Bold" charset="0"/>
      <p:regular r:id="rId19"/>
    </p:embeddedFont>
    <p:embeddedFont>
      <p:font typeface="Proxima Nova Bold" panose="020B0604020202020204" charset="0"/>
      <p:regular r:id="rId20"/>
    </p:embeddedFont>
    <p:embeddedFont>
      <p:font typeface="Tenorite" panose="00000500000000000000" pitchFamily="2" charset="0"/>
      <p:regular r:id="rId21"/>
      <p:bold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1" d="100"/>
          <a:sy n="51" d="100"/>
        </p:scale>
        <p:origin x="686" y="76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13195961" y="5935345"/>
            <a:ext cx="8126677" cy="8126677"/>
          </a:xfrm>
          <a:custGeom>
            <a:avLst/>
            <a:gdLst/>
            <a:ahLst/>
            <a:cxnLst/>
            <a:rect l="l" t="t" r="r" b="b"/>
            <a:pathLst>
              <a:path w="8126677" h="8126677">
                <a:moveTo>
                  <a:pt x="0" y="0"/>
                </a:moveTo>
                <a:lnTo>
                  <a:pt x="8126678" y="0"/>
                </a:lnTo>
                <a:lnTo>
                  <a:pt x="8126678" y="8126677"/>
                </a:lnTo>
                <a:lnTo>
                  <a:pt x="0" y="81266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350137" y="-1742992"/>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994970" y="-1387826"/>
            <a:ext cx="3404467" cy="3404467"/>
          </a:xfrm>
          <a:custGeom>
            <a:avLst/>
            <a:gdLst/>
            <a:ahLst/>
            <a:cxnLst/>
            <a:rect l="l" t="t" r="r" b="b"/>
            <a:pathLst>
              <a:path w="3404467" h="3404467">
                <a:moveTo>
                  <a:pt x="0" y="0"/>
                </a:moveTo>
                <a:lnTo>
                  <a:pt x="3404466" y="0"/>
                </a:lnTo>
                <a:lnTo>
                  <a:pt x="3404466" y="3404467"/>
                </a:lnTo>
                <a:lnTo>
                  <a:pt x="0" y="34044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3897411" y="6636795"/>
            <a:ext cx="6723778" cy="6723778"/>
          </a:xfrm>
          <a:custGeom>
            <a:avLst/>
            <a:gdLst/>
            <a:ahLst/>
            <a:cxnLst/>
            <a:rect l="l" t="t" r="r" b="b"/>
            <a:pathLst>
              <a:path w="6723778" h="6723778">
                <a:moveTo>
                  <a:pt x="0" y="0"/>
                </a:moveTo>
                <a:lnTo>
                  <a:pt x="6723778" y="0"/>
                </a:lnTo>
                <a:lnTo>
                  <a:pt x="6723778" y="6723778"/>
                </a:lnTo>
                <a:lnTo>
                  <a:pt x="0" y="67237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4876906" y="7616290"/>
            <a:ext cx="4764788" cy="476478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499020" y="-891876"/>
            <a:ext cx="2412567" cy="2412567"/>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1687369" y="2726974"/>
            <a:ext cx="11430000" cy="2954655"/>
          </a:xfrm>
          <a:prstGeom prst="rect">
            <a:avLst/>
          </a:prstGeom>
        </p:spPr>
        <p:txBody>
          <a:bodyPr wrap="square" lIns="0" tIns="0" rIns="0" bIns="0" rtlCol="0" anchor="t">
            <a:spAutoFit/>
          </a:bodyPr>
          <a:lstStyle/>
          <a:p>
            <a:r>
              <a:rPr lang="en-US" sz="9600" b="1" dirty="0">
                <a:solidFill>
                  <a:srgbClr val="000000"/>
                </a:solidFill>
                <a:latin typeface="Proxima Nova Bold"/>
                <a:ea typeface="Proxima Nova Bold"/>
                <a:cs typeface="Proxima Nova Bold"/>
                <a:sym typeface="Proxima Nova Bold"/>
              </a:rPr>
              <a:t>Data Visualization for Research</a:t>
            </a:r>
          </a:p>
        </p:txBody>
      </p:sp>
      <p:sp>
        <p:nvSpPr>
          <p:cNvPr id="18" name="TextBox 17">
            <a:extLst>
              <a:ext uri="{FF2B5EF4-FFF2-40B4-BE49-F238E27FC236}">
                <a16:creationId xmlns:a16="http://schemas.microsoft.com/office/drawing/2014/main" id="{1267CF1E-20F9-ACC5-13BE-56DBB197D251}"/>
              </a:ext>
            </a:extLst>
          </p:cNvPr>
          <p:cNvSpPr txBox="1"/>
          <p:nvPr/>
        </p:nvSpPr>
        <p:spPr>
          <a:xfrm>
            <a:off x="1687369" y="5904978"/>
            <a:ext cx="13968044" cy="1200329"/>
          </a:xfrm>
          <a:prstGeom prst="rect">
            <a:avLst/>
          </a:prstGeom>
          <a:noFill/>
        </p:spPr>
        <p:txBody>
          <a:bodyPr wrap="square">
            <a:spAutoFit/>
          </a:bodyPr>
          <a:lstStyle/>
          <a:p>
            <a:r>
              <a:rPr lang="en-US" sz="7200" b="1" u="none" strike="noStrike" dirty="0">
                <a:solidFill>
                  <a:schemeClr val="tx1">
                    <a:lumMod val="50000"/>
                    <a:lumOff val="50000"/>
                  </a:schemeClr>
                </a:solidFill>
                <a:effectLst/>
                <a:uFillTx/>
                <a:latin typeface="Tenorite" panose="00000500000000000000" pitchFamily="2" charset="0"/>
              </a:rPr>
              <a:t>Presenting Results Effectively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a:extLst>
            <a:ext uri="{FF2B5EF4-FFF2-40B4-BE49-F238E27FC236}">
              <a16:creationId xmlns:a16="http://schemas.microsoft.com/office/drawing/2014/main" id="{D5A9EBB8-A502-FC7A-5431-53A0E5D6186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EDA8DF9-C7EC-88E0-433B-1DDC6F2149AA}"/>
              </a:ext>
            </a:extLst>
          </p:cNvPr>
          <p:cNvSpPr/>
          <p:nvPr/>
        </p:nvSpPr>
        <p:spPr>
          <a:xfrm>
            <a:off x="-2057400" y="-12589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a:extLst>
              <a:ext uri="{FF2B5EF4-FFF2-40B4-BE49-F238E27FC236}">
                <a16:creationId xmlns:a16="http://schemas.microsoft.com/office/drawing/2014/main" id="{3C4FC823-E46A-3288-D3E5-2A7ABFE6C948}"/>
              </a:ext>
            </a:extLst>
          </p:cNvPr>
          <p:cNvSpPr/>
          <p:nvPr/>
        </p:nvSpPr>
        <p:spPr>
          <a:xfrm>
            <a:off x="-1702233" y="-903796"/>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a:extLst>
              <a:ext uri="{FF2B5EF4-FFF2-40B4-BE49-F238E27FC236}">
                <a16:creationId xmlns:a16="http://schemas.microsoft.com/office/drawing/2014/main" id="{84EAD41B-A8C5-6910-9C74-66DD2D1E7085}"/>
              </a:ext>
            </a:extLst>
          </p:cNvPr>
          <p:cNvSpPr/>
          <p:nvPr/>
        </p:nvSpPr>
        <p:spPr>
          <a:xfrm>
            <a:off x="-1323680" y="78867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a:extLst>
              <a:ext uri="{FF2B5EF4-FFF2-40B4-BE49-F238E27FC236}">
                <a16:creationId xmlns:a16="http://schemas.microsoft.com/office/drawing/2014/main" id="{07F62B32-4D10-8DDE-85B2-FD2DA7BAAD19}"/>
              </a:ext>
            </a:extLst>
          </p:cNvPr>
          <p:cNvSpPr/>
          <p:nvPr/>
        </p:nvSpPr>
        <p:spPr>
          <a:xfrm>
            <a:off x="-968513" y="8241867"/>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a:extLst>
              <a:ext uri="{FF2B5EF4-FFF2-40B4-BE49-F238E27FC236}">
                <a16:creationId xmlns:a16="http://schemas.microsoft.com/office/drawing/2014/main" id="{8E9E04AE-5DF3-120F-C073-C1AC03D2BCB8}"/>
              </a:ext>
            </a:extLst>
          </p:cNvPr>
          <p:cNvGrpSpPr/>
          <p:nvPr/>
        </p:nvGrpSpPr>
        <p:grpSpPr>
          <a:xfrm>
            <a:off x="12801600" y="0"/>
            <a:ext cx="11452074" cy="11646334"/>
            <a:chOff x="0" y="0"/>
            <a:chExt cx="812800" cy="812800"/>
          </a:xfrm>
        </p:grpSpPr>
        <p:sp>
          <p:nvSpPr>
            <p:cNvPr id="7" name="Freeform 7">
              <a:extLst>
                <a:ext uri="{FF2B5EF4-FFF2-40B4-BE49-F238E27FC236}">
                  <a16:creationId xmlns:a16="http://schemas.microsoft.com/office/drawing/2014/main" id="{1B62D86B-DACD-AEC0-EFE5-37A2523CD3D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8" name="TextBox 8">
              <a:extLst>
                <a:ext uri="{FF2B5EF4-FFF2-40B4-BE49-F238E27FC236}">
                  <a16:creationId xmlns:a16="http://schemas.microsoft.com/office/drawing/2014/main" id="{EA231B4B-BF81-795C-0AEC-169EB7D1641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35B5F13C-5883-5D9F-C6B7-547BB5EB86B7}"/>
              </a:ext>
            </a:extLst>
          </p:cNvPr>
          <p:cNvSpPr/>
          <p:nvPr/>
        </p:nvSpPr>
        <p:spPr>
          <a:xfrm>
            <a:off x="-555547" y="86548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a:extLst>
              <a:ext uri="{FF2B5EF4-FFF2-40B4-BE49-F238E27FC236}">
                <a16:creationId xmlns:a16="http://schemas.microsoft.com/office/drawing/2014/main" id="{BF535ECB-A072-AF01-54F8-14809C8D3F6C}"/>
              </a:ext>
            </a:extLst>
          </p:cNvPr>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a:extLst>
              <a:ext uri="{FF2B5EF4-FFF2-40B4-BE49-F238E27FC236}">
                <a16:creationId xmlns:a16="http://schemas.microsoft.com/office/drawing/2014/main" id="{2A52E61F-E160-E0A0-6B11-F2E51560C3B6}"/>
              </a:ext>
            </a:extLst>
          </p:cNvPr>
          <p:cNvGrpSpPr/>
          <p:nvPr/>
        </p:nvGrpSpPr>
        <p:grpSpPr>
          <a:xfrm>
            <a:off x="2129385" y="-2859528"/>
            <a:ext cx="3911463" cy="3911463"/>
            <a:chOff x="0" y="0"/>
            <a:chExt cx="812800" cy="812800"/>
          </a:xfrm>
        </p:grpSpPr>
        <p:sp>
          <p:nvSpPr>
            <p:cNvPr id="12" name="Freeform 12">
              <a:extLst>
                <a:ext uri="{FF2B5EF4-FFF2-40B4-BE49-F238E27FC236}">
                  <a16:creationId xmlns:a16="http://schemas.microsoft.com/office/drawing/2014/main" id="{74E053C3-ABB0-C34A-A46A-8E8F24E08C5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3" name="TextBox 13">
              <a:extLst>
                <a:ext uri="{FF2B5EF4-FFF2-40B4-BE49-F238E27FC236}">
                  <a16:creationId xmlns:a16="http://schemas.microsoft.com/office/drawing/2014/main" id="{C4C23D72-C247-788F-4F0E-A83DDE21A0D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912846F9-F9A8-84A9-4E38-6889459C71F0}"/>
              </a:ext>
            </a:extLst>
          </p:cNvPr>
          <p:cNvSpPr txBox="1"/>
          <p:nvPr/>
        </p:nvSpPr>
        <p:spPr>
          <a:xfrm>
            <a:off x="457200" y="3666172"/>
            <a:ext cx="12725400" cy="2708434"/>
          </a:xfrm>
          <a:prstGeom prst="rect">
            <a:avLst/>
          </a:prstGeom>
        </p:spPr>
        <p:txBody>
          <a:bodyPr wrap="square" lIns="0" tIns="0" rIns="0" bIns="0" rtlCol="0" anchor="t">
            <a:spAutoFit/>
          </a:bodyPr>
          <a:lstStyle/>
          <a:p>
            <a:r>
              <a:rPr lang="en-US" sz="8800" b="1" dirty="0">
                <a:solidFill>
                  <a:srgbClr val="000000"/>
                </a:solidFill>
                <a:latin typeface="Proxima Nova Bold"/>
                <a:ea typeface="Proxima Nova Bold"/>
                <a:cs typeface="Proxima Nova Bold"/>
                <a:sym typeface="Proxima Nova Bold"/>
              </a:rPr>
              <a:t>The </a:t>
            </a:r>
            <a:r>
              <a:rPr lang="en-US" sz="8800" b="1" dirty="0" err="1">
                <a:solidFill>
                  <a:srgbClr val="000000"/>
                </a:solidFill>
                <a:latin typeface="Proxima Nova Bold"/>
                <a:ea typeface="Proxima Nova Bold"/>
                <a:cs typeface="Proxima Nova Bold"/>
                <a:sym typeface="Proxima Nova Bold"/>
              </a:rPr>
              <a:t>Whats</a:t>
            </a:r>
            <a:r>
              <a:rPr lang="en-US" sz="8800" b="1" dirty="0">
                <a:solidFill>
                  <a:srgbClr val="000000"/>
                </a:solidFill>
                <a:latin typeface="Proxima Nova Bold"/>
                <a:ea typeface="Proxima Nova Bold"/>
                <a:cs typeface="Proxima Nova Bold"/>
                <a:sym typeface="Proxima Nova Bold"/>
              </a:rPr>
              <a:t> and Whys of Data Visualization</a:t>
            </a:r>
          </a:p>
        </p:txBody>
      </p:sp>
    </p:spTree>
    <p:extLst>
      <p:ext uri="{BB962C8B-B14F-4D97-AF65-F5344CB8AC3E}">
        <p14:creationId xmlns:p14="http://schemas.microsoft.com/office/powerpoint/2010/main" val="292656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2057400" y="-12589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702233" y="-903796"/>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4085116" y="1230454"/>
            <a:ext cx="10117768" cy="1469248"/>
          </a:xfrm>
          <a:prstGeom prst="rect">
            <a:avLst/>
          </a:prstGeom>
        </p:spPr>
        <p:txBody>
          <a:bodyPr wrap="square" lIns="0" tIns="0" rIns="0" bIns="0" rtlCol="0" anchor="t">
            <a:spAutoFit/>
          </a:bodyPr>
          <a:lstStyle/>
          <a:p>
            <a:pPr algn="ctr">
              <a:lnSpc>
                <a:spcPts val="12599"/>
              </a:lnSpc>
            </a:pPr>
            <a:r>
              <a:rPr lang="en-US" sz="9000" b="1" dirty="0">
                <a:solidFill>
                  <a:srgbClr val="000000"/>
                </a:solidFill>
                <a:latin typeface="Proxima Nova Bold"/>
                <a:ea typeface="Proxima Nova Bold"/>
                <a:cs typeface="Proxima Nova Bold"/>
                <a:sym typeface="Proxima Nova Bold"/>
              </a:rPr>
              <a:t>Introduction</a:t>
            </a:r>
          </a:p>
        </p:txBody>
      </p:sp>
      <p:sp>
        <p:nvSpPr>
          <p:cNvPr id="5" name="TextBox 5"/>
          <p:cNvSpPr txBox="1"/>
          <p:nvPr/>
        </p:nvSpPr>
        <p:spPr>
          <a:xfrm>
            <a:off x="3657600" y="3463220"/>
            <a:ext cx="10972800" cy="6048835"/>
          </a:xfrm>
          <a:prstGeom prst="rect">
            <a:avLst/>
          </a:prstGeom>
        </p:spPr>
        <p:txBody>
          <a:bodyPr wrap="square" lIns="0" tIns="0" rIns="0" bIns="0" rtlCol="0" anchor="t">
            <a:spAutoFit/>
          </a:bodyPr>
          <a:lstStyle/>
          <a:p>
            <a:pPr>
              <a:lnSpc>
                <a:spcPct val="90000"/>
              </a:lnSpc>
              <a:spcBef>
                <a:spcPts val="1001"/>
              </a:spcBef>
              <a:tabLst>
                <a:tab pos="0" algn="l"/>
              </a:tabLst>
            </a:pPr>
            <a:r>
              <a:rPr lang="en-US" sz="3200" dirty="0">
                <a:solidFill>
                  <a:schemeClr val="dk1"/>
                </a:solidFill>
                <a:latin typeface="Nunito" pitchFamily="2" charset="0"/>
              </a:rPr>
              <a:t>Data Visualization is the </a:t>
            </a:r>
            <a:r>
              <a:rPr lang="en-US" sz="3200" b="1" dirty="0">
                <a:solidFill>
                  <a:schemeClr val="dk1"/>
                </a:solidFill>
                <a:latin typeface="Nunito" pitchFamily="2" charset="0"/>
              </a:rPr>
              <a:t>graphical representation of data. </a:t>
            </a:r>
            <a:r>
              <a:rPr lang="en-US" sz="3200" dirty="0">
                <a:solidFill>
                  <a:schemeClr val="dk1"/>
                </a:solidFill>
                <a:latin typeface="Nunito" pitchFamily="2" charset="0"/>
              </a:rPr>
              <a:t>It involves using charts, graphs, maps, and other visual elements to reveal patterns, trends, outliers, and insights more effectively than raw numbers.</a:t>
            </a:r>
          </a:p>
          <a:p>
            <a:pPr>
              <a:lnSpc>
                <a:spcPct val="90000"/>
              </a:lnSpc>
              <a:spcBef>
                <a:spcPts val="1191"/>
              </a:spcBef>
              <a:spcAft>
                <a:spcPts val="992"/>
              </a:spcAft>
              <a:tabLst>
                <a:tab pos="0" algn="l"/>
              </a:tabLst>
            </a:pPr>
            <a:r>
              <a:rPr lang="en-US" sz="3200" dirty="0">
                <a:solidFill>
                  <a:schemeClr val="dk1"/>
                </a:solidFill>
                <a:latin typeface="Nunito" pitchFamily="2" charset="0"/>
              </a:rPr>
              <a:t>There are two different approaches to data visualization:</a:t>
            </a:r>
          </a:p>
          <a:p>
            <a:pPr marL="457200" indent="-457200">
              <a:lnSpc>
                <a:spcPct val="90000"/>
              </a:lnSpc>
              <a:spcBef>
                <a:spcPts val="1191"/>
              </a:spcBef>
              <a:spcAft>
                <a:spcPts val="992"/>
              </a:spcAft>
              <a:buFont typeface="Arial" panose="020B0604020202020204" pitchFamily="34" charset="0"/>
              <a:buChar char="•"/>
              <a:tabLst>
                <a:tab pos="0" algn="l"/>
              </a:tabLst>
            </a:pPr>
            <a:r>
              <a:rPr lang="en-US" sz="3200" b="1" dirty="0">
                <a:solidFill>
                  <a:schemeClr val="dk1"/>
                </a:solidFill>
                <a:latin typeface="Nunito" pitchFamily="2" charset="0"/>
              </a:rPr>
              <a:t>Exploratory: </a:t>
            </a:r>
            <a:r>
              <a:rPr lang="en-US" sz="3200" dirty="0">
                <a:solidFill>
                  <a:schemeClr val="dk1"/>
                </a:solidFill>
                <a:latin typeface="Nunito" pitchFamily="2" charset="0"/>
              </a:rPr>
              <a:t>Your purpose for visualization is the exploration and understanding of trends in your data, either for the purpose of data analysis or the preparation of it.</a:t>
            </a:r>
          </a:p>
          <a:p>
            <a:pPr marL="457200" indent="-457200">
              <a:lnSpc>
                <a:spcPct val="90000"/>
              </a:lnSpc>
              <a:spcBef>
                <a:spcPts val="1191"/>
              </a:spcBef>
              <a:spcAft>
                <a:spcPts val="992"/>
              </a:spcAft>
              <a:buFont typeface="Arial" panose="020B0604020202020204" pitchFamily="34" charset="0"/>
              <a:buChar char="•"/>
              <a:tabLst>
                <a:tab pos="0" algn="l"/>
              </a:tabLst>
            </a:pPr>
            <a:r>
              <a:rPr lang="en-US" sz="3200" b="1" dirty="0">
                <a:solidFill>
                  <a:schemeClr val="dk1"/>
                </a:solidFill>
                <a:latin typeface="Nunito" pitchFamily="2" charset="0"/>
              </a:rPr>
              <a:t>Explanatory: </a:t>
            </a:r>
            <a:r>
              <a:rPr lang="en-US" sz="3200" dirty="0">
                <a:solidFill>
                  <a:schemeClr val="dk1"/>
                </a:solidFill>
                <a:latin typeface="Nunito" pitchFamily="2" charset="0"/>
              </a:rPr>
              <a:t>Your purpose for visualization is to clearly and effectively communicate something about your data to a wider audience.</a:t>
            </a:r>
          </a:p>
        </p:txBody>
      </p:sp>
      <p:sp>
        <p:nvSpPr>
          <p:cNvPr id="6" name="Freeform 6"/>
          <p:cNvSpPr/>
          <p:nvPr/>
        </p:nvSpPr>
        <p:spPr>
          <a:xfrm>
            <a:off x="16230600" y="72009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16585767" y="7556067"/>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8" name="Group 8"/>
          <p:cNvGrpSpPr/>
          <p:nvPr/>
        </p:nvGrpSpPr>
        <p:grpSpPr>
          <a:xfrm>
            <a:off x="12319137" y="9258300"/>
            <a:ext cx="3911463" cy="3911463"/>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3" name="Group 13"/>
          <p:cNvGrpSpPr/>
          <p:nvPr/>
        </p:nvGrpSpPr>
        <p:grpSpPr>
          <a:xfrm>
            <a:off x="2129385" y="-2859528"/>
            <a:ext cx="3911463" cy="3911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5" name="TextBox 1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2057400" y="-12589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702233" y="-903796"/>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6230600" y="72009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6585767" y="7556067"/>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2319137" y="9258300"/>
            <a:ext cx="3911463" cy="391146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2129385" y="-2859528"/>
            <a:ext cx="3911463" cy="3911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3590711" y="1235285"/>
            <a:ext cx="11106577" cy="1469248"/>
          </a:xfrm>
          <a:prstGeom prst="rect">
            <a:avLst/>
          </a:prstGeom>
        </p:spPr>
        <p:txBody>
          <a:bodyPr wrap="square" lIns="0" tIns="0" rIns="0" bIns="0" rtlCol="0" anchor="t">
            <a:spAutoFit/>
          </a:bodyPr>
          <a:lstStyle/>
          <a:p>
            <a:pPr algn="ctr">
              <a:lnSpc>
                <a:spcPts val="12599"/>
              </a:lnSpc>
            </a:pPr>
            <a:r>
              <a:rPr lang="en-US" sz="9000" b="1" dirty="0">
                <a:solidFill>
                  <a:srgbClr val="000000"/>
                </a:solidFill>
                <a:latin typeface="Proxima Nova Bold"/>
                <a:ea typeface="Proxima Nova Bold"/>
                <a:cs typeface="Proxima Nova Bold"/>
                <a:sym typeface="Proxima Nova Bold"/>
              </a:rPr>
              <a:t>Why Visualize Data?</a:t>
            </a:r>
          </a:p>
        </p:txBody>
      </p:sp>
      <p:sp>
        <p:nvSpPr>
          <p:cNvPr id="15" name="TextBox 15"/>
          <p:cNvSpPr txBox="1"/>
          <p:nvPr/>
        </p:nvSpPr>
        <p:spPr>
          <a:xfrm>
            <a:off x="3427217" y="3974910"/>
            <a:ext cx="5945383" cy="2477025"/>
          </a:xfrm>
          <a:prstGeom prst="rect">
            <a:avLst/>
          </a:prstGeom>
        </p:spPr>
        <p:txBody>
          <a:bodyPr wrap="square" lIns="0" tIns="0" rIns="0" bIns="0" rtlCol="0" anchor="t">
            <a:spAutoFit/>
          </a:bodyPr>
          <a:lstStyle/>
          <a:p>
            <a:pPr>
              <a:lnSpc>
                <a:spcPts val="3919"/>
              </a:lnSpc>
            </a:pPr>
            <a:r>
              <a:rPr lang="en-US" sz="3200" b="1" dirty="0">
                <a:solidFill>
                  <a:srgbClr val="000000"/>
                </a:solidFill>
                <a:latin typeface="Nunito"/>
                <a:ea typeface="Nunito"/>
                <a:cs typeface="Nunito"/>
                <a:sym typeface="Nunito"/>
              </a:rPr>
              <a:t>Simplify Complex Data</a:t>
            </a:r>
          </a:p>
          <a:p>
            <a:pPr>
              <a:lnSpc>
                <a:spcPts val="3919"/>
              </a:lnSpc>
            </a:pPr>
            <a:r>
              <a:rPr lang="en-US" sz="3200" dirty="0">
                <a:solidFill>
                  <a:schemeClr val="dk1"/>
                </a:solidFill>
                <a:latin typeface="Tenorite"/>
              </a:rPr>
              <a:t>It turns large and complicated data into visual formats like charts and graphs, making the information easier to understand.</a:t>
            </a:r>
          </a:p>
        </p:txBody>
      </p:sp>
      <p:grpSp>
        <p:nvGrpSpPr>
          <p:cNvPr id="19" name="Group 17">
            <a:extLst>
              <a:ext uri="{FF2B5EF4-FFF2-40B4-BE49-F238E27FC236}">
                <a16:creationId xmlns:a16="http://schemas.microsoft.com/office/drawing/2014/main" id="{9EFA9655-050E-A5A8-2181-B4C5468740CB}"/>
              </a:ext>
            </a:extLst>
          </p:cNvPr>
          <p:cNvGrpSpPr/>
          <p:nvPr/>
        </p:nvGrpSpPr>
        <p:grpSpPr>
          <a:xfrm>
            <a:off x="2377149" y="3804920"/>
            <a:ext cx="840118" cy="840118"/>
            <a:chOff x="0" y="0"/>
            <a:chExt cx="812800" cy="812800"/>
          </a:xfrm>
        </p:grpSpPr>
        <p:sp>
          <p:nvSpPr>
            <p:cNvPr id="20" name="Freeform 18">
              <a:extLst>
                <a:ext uri="{FF2B5EF4-FFF2-40B4-BE49-F238E27FC236}">
                  <a16:creationId xmlns:a16="http://schemas.microsoft.com/office/drawing/2014/main" id="{D20068ED-F51D-7B5E-AACD-C758C2A3E54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21" name="TextBox 19">
              <a:extLst>
                <a:ext uri="{FF2B5EF4-FFF2-40B4-BE49-F238E27FC236}">
                  <a16:creationId xmlns:a16="http://schemas.microsoft.com/office/drawing/2014/main" id="{BBD1AE33-A2CC-7F2F-2BDB-A80489EFDA2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22" name="TextBox 23">
            <a:extLst>
              <a:ext uri="{FF2B5EF4-FFF2-40B4-BE49-F238E27FC236}">
                <a16:creationId xmlns:a16="http://schemas.microsoft.com/office/drawing/2014/main" id="{89920047-B299-74EB-BF9E-EE8417B517D1}"/>
              </a:ext>
            </a:extLst>
          </p:cNvPr>
          <p:cNvSpPr txBox="1"/>
          <p:nvPr/>
        </p:nvSpPr>
        <p:spPr>
          <a:xfrm>
            <a:off x="2427284" y="3955739"/>
            <a:ext cx="739848" cy="481330"/>
          </a:xfrm>
          <a:prstGeom prst="rect">
            <a:avLst/>
          </a:prstGeom>
        </p:spPr>
        <p:txBody>
          <a:bodyPr lIns="0" tIns="0" rIns="0" bIns="0" rtlCol="0" anchor="t">
            <a:spAutoFit/>
          </a:bodyPr>
          <a:lstStyle/>
          <a:p>
            <a:pPr algn="ctr">
              <a:lnSpc>
                <a:spcPts val="3919"/>
              </a:lnSpc>
            </a:pPr>
            <a:r>
              <a:rPr lang="en-US" sz="2799" b="1" dirty="0">
                <a:solidFill>
                  <a:srgbClr val="FFFFFF"/>
                </a:solidFill>
                <a:latin typeface="Nunito Bold"/>
                <a:ea typeface="Nunito Bold"/>
                <a:cs typeface="Nunito Bold"/>
                <a:sym typeface="Nunito Bold"/>
              </a:rPr>
              <a:t>01</a:t>
            </a:r>
          </a:p>
        </p:txBody>
      </p:sp>
      <p:sp>
        <p:nvSpPr>
          <p:cNvPr id="33" name="TextBox 15">
            <a:extLst>
              <a:ext uri="{FF2B5EF4-FFF2-40B4-BE49-F238E27FC236}">
                <a16:creationId xmlns:a16="http://schemas.microsoft.com/office/drawing/2014/main" id="{B6360D46-7D70-681F-1AE7-C65EED5DDC74}"/>
              </a:ext>
            </a:extLst>
          </p:cNvPr>
          <p:cNvSpPr txBox="1"/>
          <p:nvPr/>
        </p:nvSpPr>
        <p:spPr>
          <a:xfrm>
            <a:off x="10640384" y="3974910"/>
            <a:ext cx="5945383" cy="2477025"/>
          </a:xfrm>
          <a:prstGeom prst="rect">
            <a:avLst/>
          </a:prstGeom>
        </p:spPr>
        <p:txBody>
          <a:bodyPr wrap="square" lIns="0" tIns="0" rIns="0" bIns="0" rtlCol="0" anchor="t">
            <a:spAutoFit/>
          </a:bodyPr>
          <a:lstStyle/>
          <a:p>
            <a:pPr>
              <a:lnSpc>
                <a:spcPts val="3919"/>
              </a:lnSpc>
            </a:pPr>
            <a:r>
              <a:rPr lang="en-US" sz="3200" b="1" dirty="0">
                <a:solidFill>
                  <a:srgbClr val="000000"/>
                </a:solidFill>
                <a:latin typeface="Nunito"/>
                <a:ea typeface="Nunito"/>
                <a:cs typeface="Nunito"/>
                <a:sym typeface="Nunito"/>
              </a:rPr>
              <a:t>Reveals Patterns and Trends</a:t>
            </a:r>
          </a:p>
          <a:p>
            <a:pPr>
              <a:lnSpc>
                <a:spcPts val="3919"/>
              </a:lnSpc>
            </a:pPr>
            <a:r>
              <a:rPr lang="en-US" sz="3200" dirty="0">
                <a:solidFill>
                  <a:schemeClr val="dk1"/>
                </a:solidFill>
                <a:latin typeface="Tenorite"/>
              </a:rPr>
              <a:t>It helps identify trends, relationships, and patterns that are not easily seen in raw data or tables.</a:t>
            </a:r>
          </a:p>
        </p:txBody>
      </p:sp>
      <p:grpSp>
        <p:nvGrpSpPr>
          <p:cNvPr id="34" name="Group 17">
            <a:extLst>
              <a:ext uri="{FF2B5EF4-FFF2-40B4-BE49-F238E27FC236}">
                <a16:creationId xmlns:a16="http://schemas.microsoft.com/office/drawing/2014/main" id="{B634AE27-A391-5E0F-7CE6-0691A734B47C}"/>
              </a:ext>
            </a:extLst>
          </p:cNvPr>
          <p:cNvGrpSpPr/>
          <p:nvPr/>
        </p:nvGrpSpPr>
        <p:grpSpPr>
          <a:xfrm>
            <a:off x="9590316" y="3804920"/>
            <a:ext cx="840118" cy="840118"/>
            <a:chOff x="0" y="0"/>
            <a:chExt cx="812800" cy="812800"/>
          </a:xfrm>
        </p:grpSpPr>
        <p:sp>
          <p:nvSpPr>
            <p:cNvPr id="35" name="Freeform 18">
              <a:extLst>
                <a:ext uri="{FF2B5EF4-FFF2-40B4-BE49-F238E27FC236}">
                  <a16:creationId xmlns:a16="http://schemas.microsoft.com/office/drawing/2014/main" id="{B9EB0680-81B4-ED39-6A1F-18188933CDA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36" name="TextBox 19">
              <a:extLst>
                <a:ext uri="{FF2B5EF4-FFF2-40B4-BE49-F238E27FC236}">
                  <a16:creationId xmlns:a16="http://schemas.microsoft.com/office/drawing/2014/main" id="{81FCAF7A-50BF-4743-7A61-2B58694A446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37" name="TextBox 23">
            <a:extLst>
              <a:ext uri="{FF2B5EF4-FFF2-40B4-BE49-F238E27FC236}">
                <a16:creationId xmlns:a16="http://schemas.microsoft.com/office/drawing/2014/main" id="{01AB8024-F4CA-5421-890D-9019ED5C6C79}"/>
              </a:ext>
            </a:extLst>
          </p:cNvPr>
          <p:cNvSpPr txBox="1"/>
          <p:nvPr/>
        </p:nvSpPr>
        <p:spPr>
          <a:xfrm>
            <a:off x="9640451" y="3955739"/>
            <a:ext cx="739848" cy="481330"/>
          </a:xfrm>
          <a:prstGeom prst="rect">
            <a:avLst/>
          </a:prstGeom>
        </p:spPr>
        <p:txBody>
          <a:bodyPr lIns="0" tIns="0" rIns="0" bIns="0" rtlCol="0" anchor="t">
            <a:spAutoFit/>
          </a:bodyPr>
          <a:lstStyle/>
          <a:p>
            <a:pPr algn="ctr">
              <a:lnSpc>
                <a:spcPts val="3919"/>
              </a:lnSpc>
            </a:pPr>
            <a:r>
              <a:rPr lang="en-US" sz="2799" b="1" dirty="0">
                <a:solidFill>
                  <a:srgbClr val="FFFFFF"/>
                </a:solidFill>
                <a:latin typeface="Nunito Bold"/>
                <a:ea typeface="Nunito Bold"/>
                <a:cs typeface="Nunito Bold"/>
                <a:sym typeface="Nunito Bold"/>
              </a:rPr>
              <a:t>02</a:t>
            </a:r>
          </a:p>
        </p:txBody>
      </p:sp>
      <p:sp>
        <p:nvSpPr>
          <p:cNvPr id="38" name="TextBox 15">
            <a:extLst>
              <a:ext uri="{FF2B5EF4-FFF2-40B4-BE49-F238E27FC236}">
                <a16:creationId xmlns:a16="http://schemas.microsoft.com/office/drawing/2014/main" id="{CF474A3F-FAF0-03CE-7882-9DF425A87829}"/>
              </a:ext>
            </a:extLst>
          </p:cNvPr>
          <p:cNvSpPr txBox="1"/>
          <p:nvPr/>
        </p:nvSpPr>
        <p:spPr>
          <a:xfrm>
            <a:off x="3427217" y="6983060"/>
            <a:ext cx="5945383" cy="2477025"/>
          </a:xfrm>
          <a:prstGeom prst="rect">
            <a:avLst/>
          </a:prstGeom>
        </p:spPr>
        <p:txBody>
          <a:bodyPr wrap="square" lIns="0" tIns="0" rIns="0" bIns="0" rtlCol="0" anchor="t">
            <a:spAutoFit/>
          </a:bodyPr>
          <a:lstStyle/>
          <a:p>
            <a:pPr>
              <a:lnSpc>
                <a:spcPts val="3919"/>
              </a:lnSpc>
            </a:pPr>
            <a:r>
              <a:rPr lang="en-US" sz="3200" b="1" dirty="0">
                <a:solidFill>
                  <a:srgbClr val="000000"/>
                </a:solidFill>
                <a:latin typeface="Nunito"/>
                <a:ea typeface="Nunito"/>
                <a:cs typeface="Nunito"/>
                <a:sym typeface="Nunito"/>
              </a:rPr>
              <a:t>Improve Communication</a:t>
            </a:r>
          </a:p>
          <a:p>
            <a:pPr>
              <a:lnSpc>
                <a:spcPts val="3919"/>
              </a:lnSpc>
            </a:pPr>
            <a:r>
              <a:rPr lang="en-US" sz="3200" dirty="0">
                <a:solidFill>
                  <a:schemeClr val="dk1"/>
                </a:solidFill>
                <a:latin typeface="Tenorite"/>
              </a:rPr>
              <a:t>It makes it easier to explain data insights to others, especially those who may not be familiar with the technical details.</a:t>
            </a:r>
          </a:p>
        </p:txBody>
      </p:sp>
      <p:grpSp>
        <p:nvGrpSpPr>
          <p:cNvPr id="39" name="Group 17">
            <a:extLst>
              <a:ext uri="{FF2B5EF4-FFF2-40B4-BE49-F238E27FC236}">
                <a16:creationId xmlns:a16="http://schemas.microsoft.com/office/drawing/2014/main" id="{6DE8D186-A303-4966-19C1-7F93DF9CC126}"/>
              </a:ext>
            </a:extLst>
          </p:cNvPr>
          <p:cNvGrpSpPr/>
          <p:nvPr/>
        </p:nvGrpSpPr>
        <p:grpSpPr>
          <a:xfrm>
            <a:off x="2377149" y="6813070"/>
            <a:ext cx="840118" cy="840118"/>
            <a:chOff x="0" y="0"/>
            <a:chExt cx="812800" cy="812800"/>
          </a:xfrm>
        </p:grpSpPr>
        <p:sp>
          <p:nvSpPr>
            <p:cNvPr id="40" name="Freeform 18">
              <a:extLst>
                <a:ext uri="{FF2B5EF4-FFF2-40B4-BE49-F238E27FC236}">
                  <a16:creationId xmlns:a16="http://schemas.microsoft.com/office/drawing/2014/main" id="{A8B7D980-EB2D-541D-F614-22F27F8CD0E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41" name="TextBox 19">
              <a:extLst>
                <a:ext uri="{FF2B5EF4-FFF2-40B4-BE49-F238E27FC236}">
                  <a16:creationId xmlns:a16="http://schemas.microsoft.com/office/drawing/2014/main" id="{449382D1-FE9F-31C3-8D9A-8A90C43EA0CB}"/>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42" name="TextBox 23">
            <a:extLst>
              <a:ext uri="{FF2B5EF4-FFF2-40B4-BE49-F238E27FC236}">
                <a16:creationId xmlns:a16="http://schemas.microsoft.com/office/drawing/2014/main" id="{9FB1F943-55B8-8F70-4FB7-B4DD4959685F}"/>
              </a:ext>
            </a:extLst>
          </p:cNvPr>
          <p:cNvSpPr txBox="1"/>
          <p:nvPr/>
        </p:nvSpPr>
        <p:spPr>
          <a:xfrm>
            <a:off x="2427284" y="6963889"/>
            <a:ext cx="739848" cy="481330"/>
          </a:xfrm>
          <a:prstGeom prst="rect">
            <a:avLst/>
          </a:prstGeom>
        </p:spPr>
        <p:txBody>
          <a:bodyPr lIns="0" tIns="0" rIns="0" bIns="0" rtlCol="0" anchor="t">
            <a:spAutoFit/>
          </a:bodyPr>
          <a:lstStyle/>
          <a:p>
            <a:pPr algn="ctr">
              <a:lnSpc>
                <a:spcPts val="3919"/>
              </a:lnSpc>
            </a:pPr>
            <a:r>
              <a:rPr lang="en-US" sz="2799" b="1" dirty="0">
                <a:solidFill>
                  <a:srgbClr val="FFFFFF"/>
                </a:solidFill>
                <a:latin typeface="Nunito Bold"/>
                <a:ea typeface="Nunito Bold"/>
                <a:cs typeface="Nunito Bold"/>
                <a:sym typeface="Nunito Bold"/>
              </a:rPr>
              <a:t>03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a:extLst>
            <a:ext uri="{FF2B5EF4-FFF2-40B4-BE49-F238E27FC236}">
              <a16:creationId xmlns:a16="http://schemas.microsoft.com/office/drawing/2014/main" id="{31EDDCE7-3E0E-B6D8-DD18-F8A0A739930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CDBB5EE-F4D9-EEDB-8869-F1B356766747}"/>
              </a:ext>
            </a:extLst>
          </p:cNvPr>
          <p:cNvSpPr/>
          <p:nvPr/>
        </p:nvSpPr>
        <p:spPr>
          <a:xfrm>
            <a:off x="-2057400" y="-12589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a:extLst>
              <a:ext uri="{FF2B5EF4-FFF2-40B4-BE49-F238E27FC236}">
                <a16:creationId xmlns:a16="http://schemas.microsoft.com/office/drawing/2014/main" id="{205F26DB-5395-1D57-7E9D-3785C692177F}"/>
              </a:ext>
            </a:extLst>
          </p:cNvPr>
          <p:cNvSpPr/>
          <p:nvPr/>
        </p:nvSpPr>
        <p:spPr>
          <a:xfrm>
            <a:off x="-1702233" y="-903796"/>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a:extLst>
              <a:ext uri="{FF2B5EF4-FFF2-40B4-BE49-F238E27FC236}">
                <a16:creationId xmlns:a16="http://schemas.microsoft.com/office/drawing/2014/main" id="{DB1A22F7-D96D-DDAB-9CBC-9C170FC3C3D6}"/>
              </a:ext>
            </a:extLst>
          </p:cNvPr>
          <p:cNvSpPr/>
          <p:nvPr/>
        </p:nvSpPr>
        <p:spPr>
          <a:xfrm>
            <a:off x="16230600" y="72009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a:extLst>
              <a:ext uri="{FF2B5EF4-FFF2-40B4-BE49-F238E27FC236}">
                <a16:creationId xmlns:a16="http://schemas.microsoft.com/office/drawing/2014/main" id="{4D2EE5F3-BF1C-F488-3483-1D1F96C938FA}"/>
              </a:ext>
            </a:extLst>
          </p:cNvPr>
          <p:cNvSpPr/>
          <p:nvPr/>
        </p:nvSpPr>
        <p:spPr>
          <a:xfrm>
            <a:off x="16585767" y="7556067"/>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a:extLst>
              <a:ext uri="{FF2B5EF4-FFF2-40B4-BE49-F238E27FC236}">
                <a16:creationId xmlns:a16="http://schemas.microsoft.com/office/drawing/2014/main" id="{96CC1E19-EAE5-536B-9DEC-940FDC4AA394}"/>
              </a:ext>
            </a:extLst>
          </p:cNvPr>
          <p:cNvGrpSpPr/>
          <p:nvPr/>
        </p:nvGrpSpPr>
        <p:grpSpPr>
          <a:xfrm>
            <a:off x="12319137" y="9258300"/>
            <a:ext cx="3911463" cy="3911463"/>
            <a:chOff x="0" y="0"/>
            <a:chExt cx="812800" cy="812800"/>
          </a:xfrm>
        </p:grpSpPr>
        <p:sp>
          <p:nvSpPr>
            <p:cNvPr id="7" name="Freeform 7">
              <a:extLst>
                <a:ext uri="{FF2B5EF4-FFF2-40B4-BE49-F238E27FC236}">
                  <a16:creationId xmlns:a16="http://schemas.microsoft.com/office/drawing/2014/main" id="{ED0D178C-26F3-F78E-5E4A-0B6F19121E4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8" name="TextBox 8">
              <a:extLst>
                <a:ext uri="{FF2B5EF4-FFF2-40B4-BE49-F238E27FC236}">
                  <a16:creationId xmlns:a16="http://schemas.microsoft.com/office/drawing/2014/main" id="{AF59105A-9D3E-DC51-09A1-39823D82A85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AE8E6BFE-EA70-6C08-DB72-8E0979763A19}"/>
              </a:ext>
            </a:extLst>
          </p:cNvPr>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a:extLst>
              <a:ext uri="{FF2B5EF4-FFF2-40B4-BE49-F238E27FC236}">
                <a16:creationId xmlns:a16="http://schemas.microsoft.com/office/drawing/2014/main" id="{099756C1-3DE8-9773-F787-61D80B74F436}"/>
              </a:ext>
            </a:extLst>
          </p:cNvPr>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a:extLst>
              <a:ext uri="{FF2B5EF4-FFF2-40B4-BE49-F238E27FC236}">
                <a16:creationId xmlns:a16="http://schemas.microsoft.com/office/drawing/2014/main" id="{6AC00BA0-2D2A-A6CC-2572-9452FA32A86F}"/>
              </a:ext>
            </a:extLst>
          </p:cNvPr>
          <p:cNvGrpSpPr/>
          <p:nvPr/>
        </p:nvGrpSpPr>
        <p:grpSpPr>
          <a:xfrm>
            <a:off x="2129385" y="-2859528"/>
            <a:ext cx="3911463" cy="3911463"/>
            <a:chOff x="0" y="0"/>
            <a:chExt cx="812800" cy="812800"/>
          </a:xfrm>
        </p:grpSpPr>
        <p:sp>
          <p:nvSpPr>
            <p:cNvPr id="12" name="Freeform 12">
              <a:extLst>
                <a:ext uri="{FF2B5EF4-FFF2-40B4-BE49-F238E27FC236}">
                  <a16:creationId xmlns:a16="http://schemas.microsoft.com/office/drawing/2014/main" id="{15C4F676-46B4-31E7-CF86-74CD038EAF6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3" name="TextBox 13">
              <a:extLst>
                <a:ext uri="{FF2B5EF4-FFF2-40B4-BE49-F238E27FC236}">
                  <a16:creationId xmlns:a16="http://schemas.microsoft.com/office/drawing/2014/main" id="{5939B13B-2C9D-A56F-58E1-1DD69CE900B4}"/>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98256ED2-3003-A4C4-3862-F31F12F3F732}"/>
              </a:ext>
            </a:extLst>
          </p:cNvPr>
          <p:cNvSpPr txBox="1"/>
          <p:nvPr/>
        </p:nvSpPr>
        <p:spPr>
          <a:xfrm>
            <a:off x="720833" y="1235285"/>
            <a:ext cx="16846334" cy="1469248"/>
          </a:xfrm>
          <a:prstGeom prst="rect">
            <a:avLst/>
          </a:prstGeom>
        </p:spPr>
        <p:txBody>
          <a:bodyPr wrap="square" lIns="0" tIns="0" rIns="0" bIns="0" rtlCol="0" anchor="t">
            <a:spAutoFit/>
          </a:bodyPr>
          <a:lstStyle/>
          <a:p>
            <a:pPr algn="ctr">
              <a:lnSpc>
                <a:spcPts val="12599"/>
              </a:lnSpc>
            </a:pPr>
            <a:r>
              <a:rPr lang="en-US" sz="9000" b="1" dirty="0">
                <a:solidFill>
                  <a:srgbClr val="000000"/>
                </a:solidFill>
                <a:latin typeface="Proxima Nova Bold"/>
                <a:ea typeface="Proxima Nova Bold"/>
                <a:cs typeface="Proxima Nova Bold"/>
                <a:sym typeface="Proxima Nova Bold"/>
              </a:rPr>
              <a:t>Limitations</a:t>
            </a:r>
          </a:p>
        </p:txBody>
      </p:sp>
      <p:sp>
        <p:nvSpPr>
          <p:cNvPr id="15" name="TextBox 15">
            <a:extLst>
              <a:ext uri="{FF2B5EF4-FFF2-40B4-BE49-F238E27FC236}">
                <a16:creationId xmlns:a16="http://schemas.microsoft.com/office/drawing/2014/main" id="{ECCFD72D-45AF-C52F-75D4-0629B84794FE}"/>
              </a:ext>
            </a:extLst>
          </p:cNvPr>
          <p:cNvSpPr txBox="1"/>
          <p:nvPr/>
        </p:nvSpPr>
        <p:spPr>
          <a:xfrm>
            <a:off x="1158988" y="3137603"/>
            <a:ext cx="15093735" cy="6001643"/>
          </a:xfrm>
          <a:prstGeom prst="rect">
            <a:avLst/>
          </a:prstGeom>
        </p:spPr>
        <p:txBody>
          <a:bodyPr wrap="square" lIns="0" tIns="0" rIns="0" bIns="0" rtlCol="0" anchor="t">
            <a:spAutoFit/>
          </a:bodyPr>
          <a:lstStyle/>
          <a:p>
            <a:pPr algn="just">
              <a:lnSpc>
                <a:spcPts val="3919"/>
              </a:lnSpc>
            </a:pPr>
            <a:r>
              <a:rPr lang="en-US" sz="3200" b="1" dirty="0">
                <a:solidFill>
                  <a:srgbClr val="000000"/>
                </a:solidFill>
                <a:latin typeface="Nunito"/>
                <a:ea typeface="Nunito"/>
                <a:cs typeface="Nunito"/>
                <a:sym typeface="Nunito"/>
              </a:rPr>
              <a:t>Oversimplification Risk</a:t>
            </a:r>
          </a:p>
          <a:p>
            <a:pPr algn="just">
              <a:lnSpc>
                <a:spcPts val="3919"/>
              </a:lnSpc>
            </a:pPr>
            <a:r>
              <a:rPr lang="en-US" sz="3200" dirty="0">
                <a:solidFill>
                  <a:srgbClr val="000000"/>
                </a:solidFill>
                <a:latin typeface="Nunito"/>
                <a:ea typeface="Nunito"/>
                <a:cs typeface="Nunito"/>
                <a:sym typeface="Nunito"/>
              </a:rPr>
              <a:t>Important context or nuances may be lost when data is reduced to visual form.</a:t>
            </a:r>
          </a:p>
          <a:p>
            <a:pPr algn="just">
              <a:lnSpc>
                <a:spcPts val="3919"/>
              </a:lnSpc>
            </a:pPr>
            <a:endParaRPr lang="en-US" sz="3200" dirty="0">
              <a:solidFill>
                <a:srgbClr val="000000"/>
              </a:solidFill>
              <a:latin typeface="Nunito"/>
              <a:ea typeface="Nunito"/>
              <a:cs typeface="Nunito"/>
              <a:sym typeface="Nunito"/>
            </a:endParaRPr>
          </a:p>
          <a:p>
            <a:pPr algn="just">
              <a:lnSpc>
                <a:spcPts val="3919"/>
              </a:lnSpc>
            </a:pPr>
            <a:r>
              <a:rPr lang="en-US" sz="3200" b="1" dirty="0">
                <a:solidFill>
                  <a:srgbClr val="000000"/>
                </a:solidFill>
                <a:latin typeface="Nunito"/>
                <a:ea typeface="Nunito"/>
                <a:cs typeface="Nunito"/>
                <a:sym typeface="Nunito"/>
              </a:rPr>
              <a:t>Bias &amp; Misleading Design</a:t>
            </a:r>
          </a:p>
          <a:p>
            <a:pPr algn="just">
              <a:lnSpc>
                <a:spcPts val="3919"/>
              </a:lnSpc>
            </a:pPr>
            <a:r>
              <a:rPr lang="en-US" sz="3200" dirty="0">
                <a:solidFill>
                  <a:srgbClr val="000000"/>
                </a:solidFill>
                <a:latin typeface="Nunito"/>
                <a:ea typeface="Nunito"/>
                <a:cs typeface="Nunito"/>
                <a:sym typeface="Nunito"/>
              </a:rPr>
              <a:t>Truncated axes, cherry-picked data, or misleading chart types can distort interpretation.</a:t>
            </a:r>
          </a:p>
          <a:p>
            <a:pPr algn="just">
              <a:lnSpc>
                <a:spcPts val="3919"/>
              </a:lnSpc>
            </a:pPr>
            <a:endParaRPr lang="en-US" sz="3200" dirty="0">
              <a:solidFill>
                <a:srgbClr val="000000"/>
              </a:solidFill>
              <a:latin typeface="Nunito"/>
              <a:ea typeface="Nunito"/>
              <a:cs typeface="Nunito"/>
              <a:sym typeface="Nunito"/>
            </a:endParaRPr>
          </a:p>
          <a:p>
            <a:pPr algn="just">
              <a:lnSpc>
                <a:spcPts val="3919"/>
              </a:lnSpc>
            </a:pPr>
            <a:r>
              <a:rPr lang="en-US" sz="3200" b="1" dirty="0">
                <a:solidFill>
                  <a:srgbClr val="000000"/>
                </a:solidFill>
                <a:latin typeface="Nunito"/>
                <a:ea typeface="Nunito"/>
                <a:cs typeface="Nunito"/>
                <a:sym typeface="Nunito"/>
              </a:rPr>
              <a:t>Cognitive Overload</a:t>
            </a:r>
          </a:p>
          <a:p>
            <a:pPr algn="just">
              <a:lnSpc>
                <a:spcPts val="3919"/>
              </a:lnSpc>
            </a:pPr>
            <a:r>
              <a:rPr lang="en-US" sz="3200" dirty="0">
                <a:solidFill>
                  <a:srgbClr val="000000"/>
                </a:solidFill>
                <a:latin typeface="Nunito"/>
                <a:ea typeface="Nunito"/>
                <a:cs typeface="Nunito"/>
                <a:sym typeface="Nunito"/>
              </a:rPr>
              <a:t>Complex or cluttered visuals can confuse more than clarify.</a:t>
            </a:r>
          </a:p>
          <a:p>
            <a:pPr algn="just">
              <a:lnSpc>
                <a:spcPts val="3919"/>
              </a:lnSpc>
            </a:pPr>
            <a:endParaRPr lang="en-US" sz="3200" dirty="0">
              <a:solidFill>
                <a:srgbClr val="000000"/>
              </a:solidFill>
              <a:latin typeface="Nunito"/>
              <a:ea typeface="Nunito"/>
              <a:cs typeface="Nunito"/>
              <a:sym typeface="Nunito"/>
            </a:endParaRPr>
          </a:p>
          <a:p>
            <a:pPr algn="just">
              <a:lnSpc>
                <a:spcPts val="3919"/>
              </a:lnSpc>
            </a:pPr>
            <a:r>
              <a:rPr lang="en-US" sz="3200" b="1" dirty="0">
                <a:solidFill>
                  <a:srgbClr val="000000"/>
                </a:solidFill>
                <a:latin typeface="Nunito"/>
                <a:ea typeface="Nunito"/>
                <a:cs typeface="Nunito"/>
                <a:sym typeface="Nunito"/>
              </a:rPr>
              <a:t>Data Quality Dependency</a:t>
            </a:r>
          </a:p>
          <a:p>
            <a:pPr algn="just">
              <a:lnSpc>
                <a:spcPts val="3919"/>
              </a:lnSpc>
            </a:pPr>
            <a:r>
              <a:rPr lang="en-US" sz="3200" dirty="0">
                <a:solidFill>
                  <a:srgbClr val="000000"/>
                </a:solidFill>
                <a:latin typeface="Nunito"/>
                <a:ea typeface="Nunito"/>
                <a:cs typeface="Nunito"/>
                <a:sym typeface="Nunito"/>
              </a:rPr>
              <a:t>Poor or incomplete data leads to misleading visuals, no matter how well designed.</a:t>
            </a:r>
          </a:p>
        </p:txBody>
      </p:sp>
    </p:spTree>
    <p:extLst>
      <p:ext uri="{BB962C8B-B14F-4D97-AF65-F5344CB8AC3E}">
        <p14:creationId xmlns:p14="http://schemas.microsoft.com/office/powerpoint/2010/main" val="538293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2057400" y="-12589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702233" y="-903796"/>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6230600" y="72009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6585767" y="7556067"/>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2319137" y="9258300"/>
            <a:ext cx="3911463" cy="391146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2129385" y="-2859528"/>
            <a:ext cx="3911463" cy="3911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p:cNvSpPr txBox="1"/>
          <p:nvPr/>
        </p:nvSpPr>
        <p:spPr>
          <a:xfrm>
            <a:off x="1289266" y="1230454"/>
            <a:ext cx="15709467" cy="1469248"/>
          </a:xfrm>
          <a:prstGeom prst="rect">
            <a:avLst/>
          </a:prstGeom>
        </p:spPr>
        <p:txBody>
          <a:bodyPr wrap="square" lIns="0" tIns="0" rIns="0" bIns="0" rtlCol="0" anchor="t">
            <a:spAutoFit/>
          </a:bodyPr>
          <a:lstStyle/>
          <a:p>
            <a:pPr algn="ctr">
              <a:lnSpc>
                <a:spcPts val="12599"/>
              </a:lnSpc>
            </a:pPr>
            <a:r>
              <a:rPr lang="en-US" sz="9000" b="1" dirty="0">
                <a:solidFill>
                  <a:srgbClr val="000000"/>
                </a:solidFill>
                <a:latin typeface="Proxima Nova Bold"/>
                <a:ea typeface="Proxima Nova Bold"/>
                <a:cs typeface="Proxima Nova Bold"/>
                <a:sym typeface="Proxima Nova Bold"/>
              </a:rPr>
              <a:t>Tools for Visualization</a:t>
            </a:r>
          </a:p>
        </p:txBody>
      </p:sp>
      <p:sp>
        <p:nvSpPr>
          <p:cNvPr id="16" name="TextBox 16"/>
          <p:cNvSpPr txBox="1"/>
          <p:nvPr/>
        </p:nvSpPr>
        <p:spPr>
          <a:xfrm>
            <a:off x="2581281" y="3607637"/>
            <a:ext cx="9208014" cy="4498924"/>
          </a:xfrm>
          <a:prstGeom prst="rect">
            <a:avLst/>
          </a:prstGeom>
        </p:spPr>
        <p:txBody>
          <a:bodyPr wrap="square" lIns="0" tIns="0" rIns="0" bIns="0" rtlCol="0" anchor="t">
            <a:spAutoFit/>
          </a:bodyPr>
          <a:lstStyle/>
          <a:p>
            <a:pPr marL="457200" indent="-457200">
              <a:lnSpc>
                <a:spcPts val="3919"/>
              </a:lnSpc>
              <a:buFont typeface="Arial" panose="020B0604020202020204" pitchFamily="34" charset="0"/>
              <a:buChar char="•"/>
            </a:pPr>
            <a:r>
              <a:rPr lang="en-US" sz="3200" b="1" dirty="0"/>
              <a:t>Programming: </a:t>
            </a:r>
            <a:r>
              <a:rPr lang="en-US" sz="3200" dirty="0"/>
              <a:t>R (ggplot2, Shiny), Python (Matplotlib, Seaborn, </a:t>
            </a:r>
            <a:r>
              <a:rPr lang="en-US" sz="3200" dirty="0" err="1"/>
              <a:t>Plotly</a:t>
            </a:r>
            <a:r>
              <a:rPr lang="en-US" sz="3200" dirty="0"/>
              <a:t>, Altair) </a:t>
            </a:r>
          </a:p>
          <a:p>
            <a:pPr marL="457200" indent="-457200">
              <a:lnSpc>
                <a:spcPts val="3919"/>
              </a:lnSpc>
              <a:buFont typeface="Arial" panose="020B0604020202020204" pitchFamily="34" charset="0"/>
              <a:buChar char="•"/>
            </a:pPr>
            <a:endParaRPr lang="en-US" sz="3200" dirty="0"/>
          </a:p>
          <a:p>
            <a:pPr marL="457200" indent="-457200">
              <a:lnSpc>
                <a:spcPts val="3919"/>
              </a:lnSpc>
              <a:buFont typeface="Arial" panose="020B0604020202020204" pitchFamily="34" charset="0"/>
              <a:buChar char="•"/>
            </a:pPr>
            <a:r>
              <a:rPr lang="en-US" sz="3200" b="1" dirty="0"/>
              <a:t>Web based tools: </a:t>
            </a:r>
            <a:r>
              <a:rPr lang="en-US" sz="3200" dirty="0" err="1"/>
              <a:t>Javascript</a:t>
            </a:r>
            <a:r>
              <a:rPr lang="en-US" sz="3200" dirty="0"/>
              <a:t> libraries like D3.js </a:t>
            </a:r>
          </a:p>
          <a:p>
            <a:pPr marL="457200" indent="-457200">
              <a:lnSpc>
                <a:spcPts val="3919"/>
              </a:lnSpc>
              <a:buFont typeface="Arial" panose="020B0604020202020204" pitchFamily="34" charset="0"/>
              <a:buChar char="•"/>
            </a:pPr>
            <a:endParaRPr lang="en-US" sz="3200" dirty="0"/>
          </a:p>
          <a:p>
            <a:pPr marL="457200" indent="-457200">
              <a:lnSpc>
                <a:spcPts val="3919"/>
              </a:lnSpc>
              <a:buFont typeface="Arial" panose="020B0604020202020204" pitchFamily="34" charset="0"/>
              <a:buChar char="•"/>
            </a:pPr>
            <a:r>
              <a:rPr lang="en-US" sz="3200" b="1" dirty="0"/>
              <a:t>Third Party Apps: </a:t>
            </a:r>
            <a:r>
              <a:rPr lang="en-US" sz="3200" dirty="0"/>
              <a:t>Microsoft Excel, Tableau, Power BI </a:t>
            </a:r>
          </a:p>
          <a:p>
            <a:pPr marL="457200" indent="-457200">
              <a:lnSpc>
                <a:spcPts val="3919"/>
              </a:lnSpc>
              <a:buFont typeface="Arial" panose="020B0604020202020204" pitchFamily="34" charset="0"/>
              <a:buChar char="•"/>
            </a:pPr>
            <a:endParaRPr lang="en-US" sz="3200" dirty="0"/>
          </a:p>
          <a:p>
            <a:pPr marL="457200" indent="-457200">
              <a:lnSpc>
                <a:spcPts val="3919"/>
              </a:lnSpc>
              <a:buFont typeface="Arial" panose="020B0604020202020204" pitchFamily="34" charset="0"/>
              <a:buChar char="•"/>
            </a:pPr>
            <a:r>
              <a:rPr lang="en-US" sz="3200" b="1" dirty="0"/>
              <a:t>Temporal, Geospatial, and Exhibition tools: </a:t>
            </a:r>
            <a:r>
              <a:rPr lang="en-US" sz="3200" dirty="0"/>
              <a:t>Omeka, </a:t>
            </a:r>
            <a:r>
              <a:rPr lang="en-US" sz="3200" dirty="0" err="1"/>
              <a:t>StoryMap</a:t>
            </a:r>
            <a:r>
              <a:rPr lang="en-US" sz="3200" dirty="0"/>
              <a:t>, Timeline.js, </a:t>
            </a:r>
            <a:r>
              <a:rPr lang="en-US" sz="3200" dirty="0" err="1"/>
              <a:t>WorldMap</a:t>
            </a:r>
            <a:r>
              <a:rPr lang="en-US" sz="3200" dirty="0"/>
              <a:t>, and Carto</a:t>
            </a:r>
            <a:endParaRPr lang="en-US" sz="3200" dirty="0">
              <a:solidFill>
                <a:srgbClr val="000000"/>
              </a:solidFill>
              <a:latin typeface="Nunito"/>
              <a:ea typeface="Nunito"/>
              <a:cs typeface="Nunito"/>
              <a:sym typeface="Nunito"/>
            </a:endParaRPr>
          </a:p>
        </p:txBody>
      </p:sp>
      <p:pic>
        <p:nvPicPr>
          <p:cNvPr id="22" name="Picture 21">
            <a:extLst>
              <a:ext uri="{FF2B5EF4-FFF2-40B4-BE49-F238E27FC236}">
                <a16:creationId xmlns:a16="http://schemas.microsoft.com/office/drawing/2014/main" id="{8900CC33-A202-83D7-1527-DB01EF814C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470967" y="3799699"/>
            <a:ext cx="4114800" cy="4114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a:extLst>
            <a:ext uri="{FF2B5EF4-FFF2-40B4-BE49-F238E27FC236}">
              <a16:creationId xmlns:a16="http://schemas.microsoft.com/office/drawing/2014/main" id="{0DD3D774-B204-5BA4-00F7-01D19FC7DCB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47A6E14-4370-F3F4-ED1D-82424DC009C9}"/>
              </a:ext>
            </a:extLst>
          </p:cNvPr>
          <p:cNvSpPr/>
          <p:nvPr/>
        </p:nvSpPr>
        <p:spPr>
          <a:xfrm>
            <a:off x="-2057400" y="-12589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a:extLst>
              <a:ext uri="{FF2B5EF4-FFF2-40B4-BE49-F238E27FC236}">
                <a16:creationId xmlns:a16="http://schemas.microsoft.com/office/drawing/2014/main" id="{A3EF8AFB-A0A2-A986-3983-8F61458454CE}"/>
              </a:ext>
            </a:extLst>
          </p:cNvPr>
          <p:cNvSpPr/>
          <p:nvPr/>
        </p:nvSpPr>
        <p:spPr>
          <a:xfrm>
            <a:off x="-1702233" y="-903796"/>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a:extLst>
              <a:ext uri="{FF2B5EF4-FFF2-40B4-BE49-F238E27FC236}">
                <a16:creationId xmlns:a16="http://schemas.microsoft.com/office/drawing/2014/main" id="{EEED390D-C04B-EBE5-B339-02AFC1F0AA4C}"/>
              </a:ext>
            </a:extLst>
          </p:cNvPr>
          <p:cNvSpPr/>
          <p:nvPr/>
        </p:nvSpPr>
        <p:spPr>
          <a:xfrm>
            <a:off x="-1323680" y="78867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a:extLst>
              <a:ext uri="{FF2B5EF4-FFF2-40B4-BE49-F238E27FC236}">
                <a16:creationId xmlns:a16="http://schemas.microsoft.com/office/drawing/2014/main" id="{A6E1A3F5-5663-443F-B79E-749C38ABEE1F}"/>
              </a:ext>
            </a:extLst>
          </p:cNvPr>
          <p:cNvSpPr/>
          <p:nvPr/>
        </p:nvSpPr>
        <p:spPr>
          <a:xfrm>
            <a:off x="-968513" y="8241867"/>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a:extLst>
              <a:ext uri="{FF2B5EF4-FFF2-40B4-BE49-F238E27FC236}">
                <a16:creationId xmlns:a16="http://schemas.microsoft.com/office/drawing/2014/main" id="{B7D0711C-D8D2-67CE-F6DD-1BB3E7EF5ACC}"/>
              </a:ext>
            </a:extLst>
          </p:cNvPr>
          <p:cNvGrpSpPr/>
          <p:nvPr/>
        </p:nvGrpSpPr>
        <p:grpSpPr>
          <a:xfrm>
            <a:off x="12801600" y="0"/>
            <a:ext cx="11452074" cy="11646334"/>
            <a:chOff x="0" y="0"/>
            <a:chExt cx="812800" cy="812800"/>
          </a:xfrm>
        </p:grpSpPr>
        <p:sp>
          <p:nvSpPr>
            <p:cNvPr id="7" name="Freeform 7">
              <a:extLst>
                <a:ext uri="{FF2B5EF4-FFF2-40B4-BE49-F238E27FC236}">
                  <a16:creationId xmlns:a16="http://schemas.microsoft.com/office/drawing/2014/main" id="{FA8215FD-E100-B2FA-D0C1-1B2C9CFA79C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8" name="TextBox 8">
              <a:extLst>
                <a:ext uri="{FF2B5EF4-FFF2-40B4-BE49-F238E27FC236}">
                  <a16:creationId xmlns:a16="http://schemas.microsoft.com/office/drawing/2014/main" id="{F71B2877-121F-0B6E-6108-69DFF74921C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1FAA83BD-F374-B441-8FEE-8ABB191616B8}"/>
              </a:ext>
            </a:extLst>
          </p:cNvPr>
          <p:cNvSpPr/>
          <p:nvPr/>
        </p:nvSpPr>
        <p:spPr>
          <a:xfrm>
            <a:off x="-555547" y="86548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a:extLst>
              <a:ext uri="{FF2B5EF4-FFF2-40B4-BE49-F238E27FC236}">
                <a16:creationId xmlns:a16="http://schemas.microsoft.com/office/drawing/2014/main" id="{7E3BD847-5B6E-0C34-B942-75BA9630A82D}"/>
              </a:ext>
            </a:extLst>
          </p:cNvPr>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a:extLst>
              <a:ext uri="{FF2B5EF4-FFF2-40B4-BE49-F238E27FC236}">
                <a16:creationId xmlns:a16="http://schemas.microsoft.com/office/drawing/2014/main" id="{97C1EDE6-D949-87C8-A0B0-932BD71BE4A2}"/>
              </a:ext>
            </a:extLst>
          </p:cNvPr>
          <p:cNvGrpSpPr/>
          <p:nvPr/>
        </p:nvGrpSpPr>
        <p:grpSpPr>
          <a:xfrm>
            <a:off x="2129385" y="-2859528"/>
            <a:ext cx="3911463" cy="3911463"/>
            <a:chOff x="0" y="0"/>
            <a:chExt cx="812800" cy="812800"/>
          </a:xfrm>
        </p:grpSpPr>
        <p:sp>
          <p:nvSpPr>
            <p:cNvPr id="12" name="Freeform 12">
              <a:extLst>
                <a:ext uri="{FF2B5EF4-FFF2-40B4-BE49-F238E27FC236}">
                  <a16:creationId xmlns:a16="http://schemas.microsoft.com/office/drawing/2014/main" id="{C7D80C4E-C60E-DE78-C63C-CDEB46E71DA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3" name="TextBox 13">
              <a:extLst>
                <a:ext uri="{FF2B5EF4-FFF2-40B4-BE49-F238E27FC236}">
                  <a16:creationId xmlns:a16="http://schemas.microsoft.com/office/drawing/2014/main" id="{11393E5F-1DED-3473-FFF5-8D19B8B922A2}"/>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1B860D53-BC70-98FD-CFC6-E1254F028364}"/>
              </a:ext>
            </a:extLst>
          </p:cNvPr>
          <p:cNvSpPr txBox="1"/>
          <p:nvPr/>
        </p:nvSpPr>
        <p:spPr>
          <a:xfrm>
            <a:off x="457200" y="3666172"/>
            <a:ext cx="12725400" cy="2708434"/>
          </a:xfrm>
          <a:prstGeom prst="rect">
            <a:avLst/>
          </a:prstGeom>
        </p:spPr>
        <p:txBody>
          <a:bodyPr wrap="square" lIns="0" tIns="0" rIns="0" bIns="0" rtlCol="0" anchor="t">
            <a:spAutoFit/>
          </a:bodyPr>
          <a:lstStyle/>
          <a:p>
            <a:r>
              <a:rPr lang="en-US" sz="8800" b="1" dirty="0">
                <a:solidFill>
                  <a:srgbClr val="000000"/>
                </a:solidFill>
                <a:latin typeface="Proxima Nova Bold"/>
                <a:ea typeface="Proxima Nova Bold"/>
                <a:cs typeface="Proxima Nova Bold"/>
                <a:sym typeface="Proxima Nova Bold"/>
              </a:rPr>
              <a:t>What makes a Good Visualization</a:t>
            </a:r>
          </a:p>
        </p:txBody>
      </p:sp>
    </p:spTree>
    <p:extLst>
      <p:ext uri="{BB962C8B-B14F-4D97-AF65-F5344CB8AC3E}">
        <p14:creationId xmlns:p14="http://schemas.microsoft.com/office/powerpoint/2010/main" val="27868272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a:extLst>
            <a:ext uri="{FF2B5EF4-FFF2-40B4-BE49-F238E27FC236}">
              <a16:creationId xmlns:a16="http://schemas.microsoft.com/office/drawing/2014/main" id="{1A61639D-E266-A4AA-F6C2-AAD277D81A8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23C3158-C23F-3FE6-0BC7-6D5C42EEF10C}"/>
              </a:ext>
            </a:extLst>
          </p:cNvPr>
          <p:cNvSpPr/>
          <p:nvPr/>
        </p:nvSpPr>
        <p:spPr>
          <a:xfrm>
            <a:off x="-2057400" y="-12589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a:extLst>
              <a:ext uri="{FF2B5EF4-FFF2-40B4-BE49-F238E27FC236}">
                <a16:creationId xmlns:a16="http://schemas.microsoft.com/office/drawing/2014/main" id="{2575169F-E2EC-19C2-2BE2-CEF2013EB90C}"/>
              </a:ext>
            </a:extLst>
          </p:cNvPr>
          <p:cNvSpPr/>
          <p:nvPr/>
        </p:nvSpPr>
        <p:spPr>
          <a:xfrm>
            <a:off x="-1702233" y="-903796"/>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a:extLst>
              <a:ext uri="{FF2B5EF4-FFF2-40B4-BE49-F238E27FC236}">
                <a16:creationId xmlns:a16="http://schemas.microsoft.com/office/drawing/2014/main" id="{018746FA-EFBD-9802-188F-6DC1839B926B}"/>
              </a:ext>
            </a:extLst>
          </p:cNvPr>
          <p:cNvSpPr/>
          <p:nvPr/>
        </p:nvSpPr>
        <p:spPr>
          <a:xfrm>
            <a:off x="16230600" y="72009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a:extLst>
              <a:ext uri="{FF2B5EF4-FFF2-40B4-BE49-F238E27FC236}">
                <a16:creationId xmlns:a16="http://schemas.microsoft.com/office/drawing/2014/main" id="{EDEB916A-A883-DDAF-5E93-12977978360A}"/>
              </a:ext>
            </a:extLst>
          </p:cNvPr>
          <p:cNvSpPr/>
          <p:nvPr/>
        </p:nvSpPr>
        <p:spPr>
          <a:xfrm>
            <a:off x="16585767" y="7556067"/>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a:extLst>
              <a:ext uri="{FF2B5EF4-FFF2-40B4-BE49-F238E27FC236}">
                <a16:creationId xmlns:a16="http://schemas.microsoft.com/office/drawing/2014/main" id="{CE39CDCB-D5CF-FED1-64E3-3261671D5EA3}"/>
              </a:ext>
            </a:extLst>
          </p:cNvPr>
          <p:cNvGrpSpPr/>
          <p:nvPr/>
        </p:nvGrpSpPr>
        <p:grpSpPr>
          <a:xfrm>
            <a:off x="12319137" y="9258300"/>
            <a:ext cx="3911463" cy="3911463"/>
            <a:chOff x="0" y="0"/>
            <a:chExt cx="812800" cy="812800"/>
          </a:xfrm>
        </p:grpSpPr>
        <p:sp>
          <p:nvSpPr>
            <p:cNvPr id="7" name="Freeform 7">
              <a:extLst>
                <a:ext uri="{FF2B5EF4-FFF2-40B4-BE49-F238E27FC236}">
                  <a16:creationId xmlns:a16="http://schemas.microsoft.com/office/drawing/2014/main" id="{8E5F8AAC-575A-DB09-FBCC-DF032DC7EE5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8" name="TextBox 8">
              <a:extLst>
                <a:ext uri="{FF2B5EF4-FFF2-40B4-BE49-F238E27FC236}">
                  <a16:creationId xmlns:a16="http://schemas.microsoft.com/office/drawing/2014/main" id="{95D08468-A545-7260-186D-A5BEDDB7D7C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FA1A1FF9-8F1F-FA5B-3ED5-671BE6350D63}"/>
              </a:ext>
            </a:extLst>
          </p:cNvPr>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a:extLst>
              <a:ext uri="{FF2B5EF4-FFF2-40B4-BE49-F238E27FC236}">
                <a16:creationId xmlns:a16="http://schemas.microsoft.com/office/drawing/2014/main" id="{5EB0A893-F570-BB25-4C34-CCF090DBAD7C}"/>
              </a:ext>
            </a:extLst>
          </p:cNvPr>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a:extLst>
              <a:ext uri="{FF2B5EF4-FFF2-40B4-BE49-F238E27FC236}">
                <a16:creationId xmlns:a16="http://schemas.microsoft.com/office/drawing/2014/main" id="{208151D5-992B-EF01-1E51-25B13FCCFFE2}"/>
              </a:ext>
            </a:extLst>
          </p:cNvPr>
          <p:cNvGrpSpPr/>
          <p:nvPr/>
        </p:nvGrpSpPr>
        <p:grpSpPr>
          <a:xfrm>
            <a:off x="2129385" y="-2859528"/>
            <a:ext cx="3911463" cy="3911463"/>
            <a:chOff x="0" y="0"/>
            <a:chExt cx="812800" cy="812800"/>
          </a:xfrm>
        </p:grpSpPr>
        <p:sp>
          <p:nvSpPr>
            <p:cNvPr id="12" name="Freeform 12">
              <a:extLst>
                <a:ext uri="{FF2B5EF4-FFF2-40B4-BE49-F238E27FC236}">
                  <a16:creationId xmlns:a16="http://schemas.microsoft.com/office/drawing/2014/main" id="{305C2B2D-AAA9-AD7E-9A39-47E9307C81C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3" name="TextBox 13">
              <a:extLst>
                <a:ext uri="{FF2B5EF4-FFF2-40B4-BE49-F238E27FC236}">
                  <a16:creationId xmlns:a16="http://schemas.microsoft.com/office/drawing/2014/main" id="{9D703DC3-E776-67D4-8B6D-25DC86864094}"/>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8C876485-0A9E-4081-CB39-9B83CCBB279B}"/>
              </a:ext>
            </a:extLst>
          </p:cNvPr>
          <p:cNvSpPr txBox="1"/>
          <p:nvPr/>
        </p:nvSpPr>
        <p:spPr>
          <a:xfrm>
            <a:off x="1702232" y="1230454"/>
            <a:ext cx="14883535" cy="1469248"/>
          </a:xfrm>
          <a:prstGeom prst="rect">
            <a:avLst/>
          </a:prstGeom>
        </p:spPr>
        <p:txBody>
          <a:bodyPr wrap="square" lIns="0" tIns="0" rIns="0" bIns="0" rtlCol="0" anchor="t">
            <a:spAutoFit/>
          </a:bodyPr>
          <a:lstStyle/>
          <a:p>
            <a:pPr algn="ctr">
              <a:lnSpc>
                <a:spcPts val="12599"/>
              </a:lnSpc>
            </a:pPr>
            <a:r>
              <a:rPr lang="en-US" sz="9000" b="1" dirty="0">
                <a:solidFill>
                  <a:srgbClr val="000000"/>
                </a:solidFill>
                <a:latin typeface="Proxima Nova Bold"/>
                <a:ea typeface="Proxima Nova Bold"/>
                <a:cs typeface="Proxima Nova Bold"/>
                <a:sym typeface="Proxima Nova Bold"/>
              </a:rPr>
              <a:t>Pre-Attentive Attributes</a:t>
            </a:r>
          </a:p>
        </p:txBody>
      </p:sp>
      <p:sp>
        <p:nvSpPr>
          <p:cNvPr id="15" name="TextBox 15">
            <a:extLst>
              <a:ext uri="{FF2B5EF4-FFF2-40B4-BE49-F238E27FC236}">
                <a16:creationId xmlns:a16="http://schemas.microsoft.com/office/drawing/2014/main" id="{5AA651CD-AA57-BD95-BBD3-C891C098927D}"/>
              </a:ext>
            </a:extLst>
          </p:cNvPr>
          <p:cNvSpPr txBox="1"/>
          <p:nvPr/>
        </p:nvSpPr>
        <p:spPr>
          <a:xfrm>
            <a:off x="4057223" y="3388360"/>
            <a:ext cx="10173554" cy="5501506"/>
          </a:xfrm>
          <a:prstGeom prst="rect">
            <a:avLst/>
          </a:prstGeom>
        </p:spPr>
        <p:txBody>
          <a:bodyPr lIns="0" tIns="0" rIns="0" bIns="0" rtlCol="0" anchor="t">
            <a:spAutoFit/>
          </a:bodyPr>
          <a:lstStyle/>
          <a:p>
            <a:pPr>
              <a:lnSpc>
                <a:spcPts val="3919"/>
              </a:lnSpc>
            </a:pPr>
            <a:r>
              <a:rPr lang="en-US" sz="3200" dirty="0">
                <a:solidFill>
                  <a:srgbClr val="000000"/>
                </a:solidFill>
                <a:latin typeface="Nunito"/>
                <a:ea typeface="Nunito"/>
                <a:cs typeface="Nunito"/>
                <a:sym typeface="Nunito"/>
              </a:rPr>
              <a:t>A human can distinguish differences in length, shape, orientation, distances, and color readily without significant processing effort; these are referred to as </a:t>
            </a:r>
            <a:r>
              <a:rPr lang="en-US" sz="3200" b="1" dirty="0">
                <a:solidFill>
                  <a:srgbClr val="000000"/>
                </a:solidFill>
                <a:latin typeface="Nunito"/>
                <a:ea typeface="Nunito"/>
                <a:cs typeface="Nunito"/>
                <a:sym typeface="Nunito"/>
              </a:rPr>
              <a:t>pre-attentive attributes.</a:t>
            </a:r>
            <a:r>
              <a:rPr lang="en-US" sz="3200" dirty="0">
                <a:solidFill>
                  <a:srgbClr val="000000"/>
                </a:solidFill>
                <a:latin typeface="Nunito"/>
                <a:ea typeface="Nunito"/>
                <a:cs typeface="Nunito"/>
                <a:sym typeface="Nunito"/>
              </a:rPr>
              <a:t> Compelling graphics take advantage of the attributes.</a:t>
            </a:r>
          </a:p>
          <a:p>
            <a:pPr>
              <a:lnSpc>
                <a:spcPts val="3919"/>
              </a:lnSpc>
            </a:pPr>
            <a:endParaRPr lang="en-US" sz="3200" dirty="0">
              <a:solidFill>
                <a:srgbClr val="000000"/>
              </a:solidFill>
              <a:latin typeface="Nunito"/>
              <a:ea typeface="Nunito"/>
              <a:cs typeface="Nunito"/>
              <a:sym typeface="Nunito"/>
            </a:endParaRPr>
          </a:p>
          <a:p>
            <a:pPr>
              <a:lnSpc>
                <a:spcPts val="3919"/>
              </a:lnSpc>
            </a:pPr>
            <a:r>
              <a:rPr lang="en-US" sz="3200" dirty="0">
                <a:solidFill>
                  <a:srgbClr val="000000"/>
                </a:solidFill>
                <a:latin typeface="Nunito"/>
                <a:ea typeface="Nunito"/>
                <a:cs typeface="Nunito"/>
                <a:sym typeface="Nunito"/>
              </a:rPr>
              <a:t>There are 4 pre-attentive visual properties: </a:t>
            </a:r>
            <a:r>
              <a:rPr lang="en-US" sz="3200" b="1" dirty="0">
                <a:solidFill>
                  <a:srgbClr val="000000"/>
                </a:solidFill>
                <a:latin typeface="Nunito"/>
                <a:ea typeface="Nunito"/>
                <a:cs typeface="Nunito"/>
                <a:sym typeface="Nunito"/>
              </a:rPr>
              <a:t>Form</a:t>
            </a:r>
            <a:r>
              <a:rPr lang="en-US" sz="3200" dirty="0">
                <a:solidFill>
                  <a:srgbClr val="000000"/>
                </a:solidFill>
                <a:latin typeface="Nunito"/>
                <a:ea typeface="Nunito"/>
                <a:cs typeface="Nunito"/>
                <a:sym typeface="Nunito"/>
              </a:rPr>
              <a:t>, </a:t>
            </a:r>
            <a:r>
              <a:rPr lang="en-US" sz="3200" b="1" dirty="0">
                <a:solidFill>
                  <a:srgbClr val="000000"/>
                </a:solidFill>
                <a:latin typeface="Nunito"/>
                <a:ea typeface="Nunito"/>
                <a:cs typeface="Nunito"/>
                <a:sym typeface="Nunito"/>
              </a:rPr>
              <a:t>Color</a:t>
            </a:r>
            <a:r>
              <a:rPr lang="en-US" sz="3200" dirty="0">
                <a:solidFill>
                  <a:srgbClr val="000000"/>
                </a:solidFill>
                <a:latin typeface="Nunito"/>
                <a:ea typeface="Nunito"/>
                <a:cs typeface="Nunito"/>
                <a:sym typeface="Nunito"/>
              </a:rPr>
              <a:t>, </a:t>
            </a:r>
            <a:r>
              <a:rPr lang="en-US" sz="3200" b="1" dirty="0">
                <a:solidFill>
                  <a:srgbClr val="000000"/>
                </a:solidFill>
                <a:latin typeface="Nunito"/>
                <a:ea typeface="Nunito"/>
                <a:cs typeface="Nunito"/>
                <a:sym typeface="Nunito"/>
              </a:rPr>
              <a:t>Spatial Position </a:t>
            </a:r>
            <a:r>
              <a:rPr lang="en-US" sz="3200" dirty="0">
                <a:solidFill>
                  <a:srgbClr val="000000"/>
                </a:solidFill>
                <a:latin typeface="Nunito"/>
                <a:ea typeface="Nunito"/>
                <a:cs typeface="Nunito"/>
                <a:sym typeface="Nunito"/>
              </a:rPr>
              <a:t>and </a:t>
            </a:r>
            <a:r>
              <a:rPr lang="en-US" sz="3200" b="1" dirty="0">
                <a:solidFill>
                  <a:srgbClr val="000000"/>
                </a:solidFill>
                <a:latin typeface="Nunito"/>
                <a:ea typeface="Nunito"/>
                <a:cs typeface="Nunito"/>
                <a:sym typeface="Nunito"/>
              </a:rPr>
              <a:t>Movement</a:t>
            </a:r>
            <a:r>
              <a:rPr lang="en-US" sz="3200" dirty="0">
                <a:solidFill>
                  <a:srgbClr val="000000"/>
                </a:solidFill>
                <a:latin typeface="Nunito"/>
                <a:ea typeface="Nunito"/>
                <a:cs typeface="Nunito"/>
                <a:sym typeface="Nunito"/>
              </a:rPr>
              <a:t>. From these four, we are able to derive specific visual features that the visual system can detect instantly.</a:t>
            </a:r>
          </a:p>
          <a:p>
            <a:pPr>
              <a:lnSpc>
                <a:spcPts val="3919"/>
              </a:lnSpc>
            </a:pPr>
            <a:endParaRPr lang="en-US" sz="3200" dirty="0">
              <a:solidFill>
                <a:srgbClr val="000000"/>
              </a:solidFill>
              <a:latin typeface="Nunito"/>
              <a:ea typeface="Nunito"/>
              <a:cs typeface="Nunito"/>
              <a:sym typeface="Nunito"/>
            </a:endParaRPr>
          </a:p>
        </p:txBody>
      </p:sp>
    </p:spTree>
    <p:extLst>
      <p:ext uri="{BB962C8B-B14F-4D97-AF65-F5344CB8AC3E}">
        <p14:creationId xmlns:p14="http://schemas.microsoft.com/office/powerpoint/2010/main" val="32484672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a:extLst>
            <a:ext uri="{FF2B5EF4-FFF2-40B4-BE49-F238E27FC236}">
              <a16:creationId xmlns:a16="http://schemas.microsoft.com/office/drawing/2014/main" id="{66BF644C-6632-CFD5-A858-F89CADA28AA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44F0910-0590-5EBB-6420-D89E73B25EFC}"/>
              </a:ext>
            </a:extLst>
          </p:cNvPr>
          <p:cNvSpPr/>
          <p:nvPr/>
        </p:nvSpPr>
        <p:spPr>
          <a:xfrm>
            <a:off x="-2057400" y="-12589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a:extLst>
              <a:ext uri="{FF2B5EF4-FFF2-40B4-BE49-F238E27FC236}">
                <a16:creationId xmlns:a16="http://schemas.microsoft.com/office/drawing/2014/main" id="{3B85E698-7B6B-1675-EE4E-C89529CC97CF}"/>
              </a:ext>
            </a:extLst>
          </p:cNvPr>
          <p:cNvSpPr/>
          <p:nvPr/>
        </p:nvSpPr>
        <p:spPr>
          <a:xfrm>
            <a:off x="-1702233" y="-903796"/>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a:extLst>
              <a:ext uri="{FF2B5EF4-FFF2-40B4-BE49-F238E27FC236}">
                <a16:creationId xmlns:a16="http://schemas.microsoft.com/office/drawing/2014/main" id="{DF0145FF-FBCB-5084-5A30-B2F03192BB5F}"/>
              </a:ext>
            </a:extLst>
          </p:cNvPr>
          <p:cNvSpPr/>
          <p:nvPr/>
        </p:nvSpPr>
        <p:spPr>
          <a:xfrm>
            <a:off x="16230600" y="72009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a:extLst>
              <a:ext uri="{FF2B5EF4-FFF2-40B4-BE49-F238E27FC236}">
                <a16:creationId xmlns:a16="http://schemas.microsoft.com/office/drawing/2014/main" id="{30E5103E-1161-6F6D-007A-A7D72C95D1E7}"/>
              </a:ext>
            </a:extLst>
          </p:cNvPr>
          <p:cNvSpPr/>
          <p:nvPr/>
        </p:nvSpPr>
        <p:spPr>
          <a:xfrm>
            <a:off x="16585767" y="7556067"/>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a:extLst>
              <a:ext uri="{FF2B5EF4-FFF2-40B4-BE49-F238E27FC236}">
                <a16:creationId xmlns:a16="http://schemas.microsoft.com/office/drawing/2014/main" id="{8077EC41-AA09-9F10-9701-F53BB946222B}"/>
              </a:ext>
            </a:extLst>
          </p:cNvPr>
          <p:cNvGrpSpPr/>
          <p:nvPr/>
        </p:nvGrpSpPr>
        <p:grpSpPr>
          <a:xfrm>
            <a:off x="12319137" y="9258300"/>
            <a:ext cx="3911463" cy="3911463"/>
            <a:chOff x="0" y="0"/>
            <a:chExt cx="812800" cy="812800"/>
          </a:xfrm>
        </p:grpSpPr>
        <p:sp>
          <p:nvSpPr>
            <p:cNvPr id="7" name="Freeform 7">
              <a:extLst>
                <a:ext uri="{FF2B5EF4-FFF2-40B4-BE49-F238E27FC236}">
                  <a16:creationId xmlns:a16="http://schemas.microsoft.com/office/drawing/2014/main" id="{2267645A-111E-6EB8-535A-B088EC709D8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8" name="TextBox 8">
              <a:extLst>
                <a:ext uri="{FF2B5EF4-FFF2-40B4-BE49-F238E27FC236}">
                  <a16:creationId xmlns:a16="http://schemas.microsoft.com/office/drawing/2014/main" id="{A1F8D8B1-7360-10F0-172E-58C443E21819}"/>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C5A6669F-F742-1436-4310-DD0E300FB11F}"/>
              </a:ext>
            </a:extLst>
          </p:cNvPr>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a:extLst>
              <a:ext uri="{FF2B5EF4-FFF2-40B4-BE49-F238E27FC236}">
                <a16:creationId xmlns:a16="http://schemas.microsoft.com/office/drawing/2014/main" id="{EEF10E3B-1005-AD7A-AF01-2F52F1F18A89}"/>
              </a:ext>
            </a:extLst>
          </p:cNvPr>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a:extLst>
              <a:ext uri="{FF2B5EF4-FFF2-40B4-BE49-F238E27FC236}">
                <a16:creationId xmlns:a16="http://schemas.microsoft.com/office/drawing/2014/main" id="{1A071DFB-051B-07E3-403B-F904F08AC7B7}"/>
              </a:ext>
            </a:extLst>
          </p:cNvPr>
          <p:cNvGrpSpPr/>
          <p:nvPr/>
        </p:nvGrpSpPr>
        <p:grpSpPr>
          <a:xfrm>
            <a:off x="2129385" y="-2859528"/>
            <a:ext cx="3911463" cy="3911463"/>
            <a:chOff x="0" y="0"/>
            <a:chExt cx="812800" cy="812800"/>
          </a:xfrm>
        </p:grpSpPr>
        <p:sp>
          <p:nvSpPr>
            <p:cNvPr id="12" name="Freeform 12">
              <a:extLst>
                <a:ext uri="{FF2B5EF4-FFF2-40B4-BE49-F238E27FC236}">
                  <a16:creationId xmlns:a16="http://schemas.microsoft.com/office/drawing/2014/main" id="{0B60B0D7-CD73-B09E-74D3-4A1AD64EB1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3" name="TextBox 13">
              <a:extLst>
                <a:ext uri="{FF2B5EF4-FFF2-40B4-BE49-F238E27FC236}">
                  <a16:creationId xmlns:a16="http://schemas.microsoft.com/office/drawing/2014/main" id="{4C3E2AD7-D5BC-1AF6-B487-2FD6A14E98E1}"/>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a:extLst>
              <a:ext uri="{FF2B5EF4-FFF2-40B4-BE49-F238E27FC236}">
                <a16:creationId xmlns:a16="http://schemas.microsoft.com/office/drawing/2014/main" id="{9E40FCCA-0CB7-3720-86AE-2B82AEB88CF1}"/>
              </a:ext>
            </a:extLst>
          </p:cNvPr>
          <p:cNvSpPr txBox="1"/>
          <p:nvPr/>
        </p:nvSpPr>
        <p:spPr>
          <a:xfrm>
            <a:off x="4057222" y="8520767"/>
            <a:ext cx="10173554" cy="1000274"/>
          </a:xfrm>
          <a:prstGeom prst="rect">
            <a:avLst/>
          </a:prstGeom>
        </p:spPr>
        <p:txBody>
          <a:bodyPr lIns="0" tIns="0" rIns="0" bIns="0" rtlCol="0" anchor="t">
            <a:spAutoFit/>
          </a:bodyPr>
          <a:lstStyle/>
          <a:p>
            <a:pPr algn="ctr">
              <a:lnSpc>
                <a:spcPts val="3919"/>
              </a:lnSpc>
            </a:pPr>
            <a:r>
              <a:rPr lang="en-US" sz="3200" dirty="0">
                <a:solidFill>
                  <a:schemeClr val="tx1">
                    <a:lumMod val="50000"/>
                    <a:lumOff val="50000"/>
                  </a:schemeClr>
                </a:solidFill>
                <a:latin typeface="Nunito"/>
                <a:ea typeface="Nunito"/>
                <a:cs typeface="Nunito"/>
                <a:sym typeface="Nunito"/>
              </a:rPr>
              <a:t>Specific Pre-attentive Visual Features in Data Visualization</a:t>
            </a:r>
          </a:p>
        </p:txBody>
      </p:sp>
      <p:pic>
        <p:nvPicPr>
          <p:cNvPr id="17" name="Picture 16">
            <a:extLst>
              <a:ext uri="{FF2B5EF4-FFF2-40B4-BE49-F238E27FC236}">
                <a16:creationId xmlns:a16="http://schemas.microsoft.com/office/drawing/2014/main" id="{FDB0DE55-57B3-9711-42FF-4520E7C6469A}"/>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772099" y="1448096"/>
            <a:ext cx="12743799" cy="6953973"/>
          </a:xfrm>
          <a:prstGeom prst="rect">
            <a:avLst/>
          </a:prstGeom>
        </p:spPr>
      </p:pic>
    </p:spTree>
    <p:extLst>
      <p:ext uri="{BB962C8B-B14F-4D97-AF65-F5344CB8AC3E}">
        <p14:creationId xmlns:p14="http://schemas.microsoft.com/office/powerpoint/2010/main" val="6150924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a:extLst>
            <a:ext uri="{FF2B5EF4-FFF2-40B4-BE49-F238E27FC236}">
              <a16:creationId xmlns:a16="http://schemas.microsoft.com/office/drawing/2014/main" id="{3F2F246B-3612-D9C5-C7FE-E22B15EFBD1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8F5A760-A0FE-AF98-EBF2-77C145AF0410}"/>
              </a:ext>
            </a:extLst>
          </p:cNvPr>
          <p:cNvSpPr/>
          <p:nvPr/>
        </p:nvSpPr>
        <p:spPr>
          <a:xfrm>
            <a:off x="-2057400" y="-12589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a:extLst>
              <a:ext uri="{FF2B5EF4-FFF2-40B4-BE49-F238E27FC236}">
                <a16:creationId xmlns:a16="http://schemas.microsoft.com/office/drawing/2014/main" id="{C602A412-4777-6BF6-EC1B-51F87EC50463}"/>
              </a:ext>
            </a:extLst>
          </p:cNvPr>
          <p:cNvSpPr/>
          <p:nvPr/>
        </p:nvSpPr>
        <p:spPr>
          <a:xfrm>
            <a:off x="-1702233" y="-903796"/>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a:extLst>
              <a:ext uri="{FF2B5EF4-FFF2-40B4-BE49-F238E27FC236}">
                <a16:creationId xmlns:a16="http://schemas.microsoft.com/office/drawing/2014/main" id="{849DCF3E-F24D-2465-8CDF-C72294C4C0A9}"/>
              </a:ext>
            </a:extLst>
          </p:cNvPr>
          <p:cNvSpPr/>
          <p:nvPr/>
        </p:nvSpPr>
        <p:spPr>
          <a:xfrm>
            <a:off x="16230600" y="72009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a:extLst>
              <a:ext uri="{FF2B5EF4-FFF2-40B4-BE49-F238E27FC236}">
                <a16:creationId xmlns:a16="http://schemas.microsoft.com/office/drawing/2014/main" id="{F9DAE638-7451-49B4-D2B5-D9646F4DCAD1}"/>
              </a:ext>
            </a:extLst>
          </p:cNvPr>
          <p:cNvSpPr/>
          <p:nvPr/>
        </p:nvSpPr>
        <p:spPr>
          <a:xfrm>
            <a:off x="16585767" y="7556067"/>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a:extLst>
              <a:ext uri="{FF2B5EF4-FFF2-40B4-BE49-F238E27FC236}">
                <a16:creationId xmlns:a16="http://schemas.microsoft.com/office/drawing/2014/main" id="{0FCDB8EB-7701-D167-0DA5-520C33C1F766}"/>
              </a:ext>
            </a:extLst>
          </p:cNvPr>
          <p:cNvGrpSpPr/>
          <p:nvPr/>
        </p:nvGrpSpPr>
        <p:grpSpPr>
          <a:xfrm>
            <a:off x="12319137" y="9258300"/>
            <a:ext cx="3911463" cy="3911463"/>
            <a:chOff x="0" y="0"/>
            <a:chExt cx="812800" cy="812800"/>
          </a:xfrm>
        </p:grpSpPr>
        <p:sp>
          <p:nvSpPr>
            <p:cNvPr id="7" name="Freeform 7">
              <a:extLst>
                <a:ext uri="{FF2B5EF4-FFF2-40B4-BE49-F238E27FC236}">
                  <a16:creationId xmlns:a16="http://schemas.microsoft.com/office/drawing/2014/main" id="{8C1DAF9D-D54B-4CD5-5BE6-530EB27E3DB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8" name="TextBox 8">
              <a:extLst>
                <a:ext uri="{FF2B5EF4-FFF2-40B4-BE49-F238E27FC236}">
                  <a16:creationId xmlns:a16="http://schemas.microsoft.com/office/drawing/2014/main" id="{4CA30FCC-360B-6819-2912-6A12DE81B8EA}"/>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B5769028-D8D2-4E77-363F-E84DE12D105A}"/>
              </a:ext>
            </a:extLst>
          </p:cNvPr>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a:extLst>
              <a:ext uri="{FF2B5EF4-FFF2-40B4-BE49-F238E27FC236}">
                <a16:creationId xmlns:a16="http://schemas.microsoft.com/office/drawing/2014/main" id="{C584404D-657A-901C-302A-91E58B6B1C55}"/>
              </a:ext>
            </a:extLst>
          </p:cNvPr>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a:extLst>
              <a:ext uri="{FF2B5EF4-FFF2-40B4-BE49-F238E27FC236}">
                <a16:creationId xmlns:a16="http://schemas.microsoft.com/office/drawing/2014/main" id="{ACB01083-E595-2DAB-B6A0-45DD99A54993}"/>
              </a:ext>
            </a:extLst>
          </p:cNvPr>
          <p:cNvGrpSpPr/>
          <p:nvPr/>
        </p:nvGrpSpPr>
        <p:grpSpPr>
          <a:xfrm>
            <a:off x="2129385" y="-2859528"/>
            <a:ext cx="3911463" cy="3911463"/>
            <a:chOff x="0" y="0"/>
            <a:chExt cx="812800" cy="812800"/>
          </a:xfrm>
        </p:grpSpPr>
        <p:sp>
          <p:nvSpPr>
            <p:cNvPr id="12" name="Freeform 12">
              <a:extLst>
                <a:ext uri="{FF2B5EF4-FFF2-40B4-BE49-F238E27FC236}">
                  <a16:creationId xmlns:a16="http://schemas.microsoft.com/office/drawing/2014/main" id="{CE372CDF-45E2-3DD9-5B0F-5FC288594B1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3" name="TextBox 13">
              <a:extLst>
                <a:ext uri="{FF2B5EF4-FFF2-40B4-BE49-F238E27FC236}">
                  <a16:creationId xmlns:a16="http://schemas.microsoft.com/office/drawing/2014/main" id="{BD0908FA-0B39-28DA-4DAD-99BFF65EF716}"/>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DA84E254-C1AA-B989-9FFE-035B5526F84B}"/>
              </a:ext>
            </a:extLst>
          </p:cNvPr>
          <p:cNvSpPr txBox="1"/>
          <p:nvPr/>
        </p:nvSpPr>
        <p:spPr>
          <a:xfrm>
            <a:off x="1702232" y="1230454"/>
            <a:ext cx="14883535" cy="1469248"/>
          </a:xfrm>
          <a:prstGeom prst="rect">
            <a:avLst/>
          </a:prstGeom>
        </p:spPr>
        <p:txBody>
          <a:bodyPr wrap="square" lIns="0" tIns="0" rIns="0" bIns="0" rtlCol="0" anchor="t">
            <a:spAutoFit/>
          </a:bodyPr>
          <a:lstStyle/>
          <a:p>
            <a:pPr algn="ctr">
              <a:lnSpc>
                <a:spcPts val="12599"/>
              </a:lnSpc>
            </a:pPr>
            <a:r>
              <a:rPr lang="en-US" sz="9000" b="1" dirty="0">
                <a:solidFill>
                  <a:srgbClr val="000000"/>
                </a:solidFill>
                <a:latin typeface="Proxima Nova Bold"/>
                <a:ea typeface="Proxima Nova Bold"/>
                <a:cs typeface="Proxima Nova Bold"/>
                <a:sym typeface="Proxima Nova Bold"/>
              </a:rPr>
              <a:t>Quantitative Messages</a:t>
            </a:r>
          </a:p>
        </p:txBody>
      </p:sp>
      <p:sp>
        <p:nvSpPr>
          <p:cNvPr id="15" name="TextBox 15">
            <a:extLst>
              <a:ext uri="{FF2B5EF4-FFF2-40B4-BE49-F238E27FC236}">
                <a16:creationId xmlns:a16="http://schemas.microsoft.com/office/drawing/2014/main" id="{7AE929EF-AD46-4B32-BA3B-828965143200}"/>
              </a:ext>
            </a:extLst>
          </p:cNvPr>
          <p:cNvSpPr txBox="1"/>
          <p:nvPr/>
        </p:nvSpPr>
        <p:spPr>
          <a:xfrm>
            <a:off x="4057223" y="3388360"/>
            <a:ext cx="10173554" cy="4501232"/>
          </a:xfrm>
          <a:prstGeom prst="rect">
            <a:avLst/>
          </a:prstGeom>
        </p:spPr>
        <p:txBody>
          <a:bodyPr lIns="0" tIns="0" rIns="0" bIns="0" rtlCol="0" anchor="t">
            <a:spAutoFit/>
          </a:bodyPr>
          <a:lstStyle/>
          <a:p>
            <a:pPr>
              <a:lnSpc>
                <a:spcPts val="3919"/>
              </a:lnSpc>
            </a:pPr>
            <a:r>
              <a:rPr lang="en-US" sz="3200" dirty="0">
                <a:solidFill>
                  <a:srgbClr val="000000"/>
                </a:solidFill>
                <a:latin typeface="Nunito"/>
                <a:ea typeface="Nunito"/>
                <a:cs typeface="Nunito"/>
                <a:sym typeface="Nunito"/>
              </a:rPr>
              <a:t>Quantitative Messages describe the type of insight or comparison a user wants to extract from numerical data, guiding how the data should be visualized. </a:t>
            </a:r>
          </a:p>
          <a:p>
            <a:pPr>
              <a:lnSpc>
                <a:spcPts val="3919"/>
              </a:lnSpc>
            </a:pPr>
            <a:endParaRPr lang="en-US" sz="3200" dirty="0">
              <a:solidFill>
                <a:srgbClr val="000000"/>
              </a:solidFill>
              <a:latin typeface="Nunito"/>
              <a:ea typeface="Nunito"/>
              <a:cs typeface="Nunito"/>
              <a:sym typeface="Nunito"/>
            </a:endParaRPr>
          </a:p>
          <a:p>
            <a:pPr>
              <a:lnSpc>
                <a:spcPts val="3919"/>
              </a:lnSpc>
            </a:pPr>
            <a:r>
              <a:rPr lang="en-US" sz="3200" dirty="0">
                <a:solidFill>
                  <a:srgbClr val="000000"/>
                </a:solidFill>
                <a:latin typeface="Nunito"/>
                <a:ea typeface="Nunito"/>
                <a:cs typeface="Nunito"/>
                <a:sym typeface="Nunito"/>
              </a:rPr>
              <a:t>Each message type is best conveyed through a specific kind of graph or chart, which helps highlight the intended relationship or pattern.</a:t>
            </a:r>
          </a:p>
          <a:p>
            <a:pPr>
              <a:lnSpc>
                <a:spcPts val="3919"/>
              </a:lnSpc>
            </a:pPr>
            <a:br>
              <a:rPr lang="en-US" sz="3200" dirty="0">
                <a:solidFill>
                  <a:srgbClr val="000000"/>
                </a:solidFill>
                <a:latin typeface="Nunito"/>
                <a:ea typeface="Nunito"/>
                <a:cs typeface="Nunito"/>
                <a:sym typeface="Nunito"/>
              </a:rPr>
            </a:br>
            <a:r>
              <a:rPr lang="en-US" sz="3200" dirty="0">
                <a:solidFill>
                  <a:srgbClr val="000000"/>
                </a:solidFill>
                <a:latin typeface="Nunito"/>
                <a:ea typeface="Nunito"/>
                <a:cs typeface="Nunito"/>
                <a:sym typeface="Nunito"/>
              </a:rPr>
              <a:t>There are </a:t>
            </a:r>
            <a:r>
              <a:rPr lang="en-US" sz="3200" b="1" dirty="0">
                <a:solidFill>
                  <a:srgbClr val="000000"/>
                </a:solidFill>
                <a:latin typeface="Nunito"/>
                <a:ea typeface="Nunito"/>
                <a:cs typeface="Nunito"/>
                <a:sym typeface="Nunito"/>
              </a:rPr>
              <a:t>8</a:t>
            </a:r>
            <a:r>
              <a:rPr lang="en-US" sz="3200" dirty="0">
                <a:solidFill>
                  <a:srgbClr val="000000"/>
                </a:solidFill>
                <a:latin typeface="Nunito"/>
                <a:ea typeface="Nunito"/>
                <a:cs typeface="Nunito"/>
                <a:sym typeface="Nunito"/>
              </a:rPr>
              <a:t> types of quantitative messages.</a:t>
            </a:r>
          </a:p>
        </p:txBody>
      </p:sp>
    </p:spTree>
    <p:extLst>
      <p:ext uri="{BB962C8B-B14F-4D97-AF65-F5344CB8AC3E}">
        <p14:creationId xmlns:p14="http://schemas.microsoft.com/office/powerpoint/2010/main" val="17491910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a:extLst>
            <a:ext uri="{FF2B5EF4-FFF2-40B4-BE49-F238E27FC236}">
              <a16:creationId xmlns:a16="http://schemas.microsoft.com/office/drawing/2014/main" id="{297EE512-4B6E-424A-BF70-C75947B08AD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0C3CEE9-93BF-100D-0934-A23641F0B4C9}"/>
              </a:ext>
            </a:extLst>
          </p:cNvPr>
          <p:cNvSpPr/>
          <p:nvPr/>
        </p:nvSpPr>
        <p:spPr>
          <a:xfrm>
            <a:off x="-2057400" y="-12589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a:extLst>
              <a:ext uri="{FF2B5EF4-FFF2-40B4-BE49-F238E27FC236}">
                <a16:creationId xmlns:a16="http://schemas.microsoft.com/office/drawing/2014/main" id="{E5036297-FA25-D188-7354-3EF675F97DF4}"/>
              </a:ext>
            </a:extLst>
          </p:cNvPr>
          <p:cNvSpPr/>
          <p:nvPr/>
        </p:nvSpPr>
        <p:spPr>
          <a:xfrm>
            <a:off x="-1702233" y="-903796"/>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a:extLst>
              <a:ext uri="{FF2B5EF4-FFF2-40B4-BE49-F238E27FC236}">
                <a16:creationId xmlns:a16="http://schemas.microsoft.com/office/drawing/2014/main" id="{40A5382E-FBC3-978C-923C-CF22C5EAFBB1}"/>
              </a:ext>
            </a:extLst>
          </p:cNvPr>
          <p:cNvSpPr/>
          <p:nvPr/>
        </p:nvSpPr>
        <p:spPr>
          <a:xfrm>
            <a:off x="16230600" y="72009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a:extLst>
              <a:ext uri="{FF2B5EF4-FFF2-40B4-BE49-F238E27FC236}">
                <a16:creationId xmlns:a16="http://schemas.microsoft.com/office/drawing/2014/main" id="{682E02B4-0291-85C0-7300-5DEC843FF40C}"/>
              </a:ext>
            </a:extLst>
          </p:cNvPr>
          <p:cNvSpPr/>
          <p:nvPr/>
        </p:nvSpPr>
        <p:spPr>
          <a:xfrm>
            <a:off x="16585767" y="7556067"/>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a:extLst>
              <a:ext uri="{FF2B5EF4-FFF2-40B4-BE49-F238E27FC236}">
                <a16:creationId xmlns:a16="http://schemas.microsoft.com/office/drawing/2014/main" id="{E82586CD-82FD-C150-BF50-40CCC1C59E19}"/>
              </a:ext>
            </a:extLst>
          </p:cNvPr>
          <p:cNvGrpSpPr/>
          <p:nvPr/>
        </p:nvGrpSpPr>
        <p:grpSpPr>
          <a:xfrm>
            <a:off x="12319137" y="9258300"/>
            <a:ext cx="3911463" cy="3911463"/>
            <a:chOff x="0" y="0"/>
            <a:chExt cx="812800" cy="812800"/>
          </a:xfrm>
        </p:grpSpPr>
        <p:sp>
          <p:nvSpPr>
            <p:cNvPr id="7" name="Freeform 7">
              <a:extLst>
                <a:ext uri="{FF2B5EF4-FFF2-40B4-BE49-F238E27FC236}">
                  <a16:creationId xmlns:a16="http://schemas.microsoft.com/office/drawing/2014/main" id="{5F47E36C-D9BE-00C6-5E25-D6295EC76CE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8" name="TextBox 8">
              <a:extLst>
                <a:ext uri="{FF2B5EF4-FFF2-40B4-BE49-F238E27FC236}">
                  <a16:creationId xmlns:a16="http://schemas.microsoft.com/office/drawing/2014/main" id="{435D4CB0-3B90-D934-34B7-850DC1B3DB8B}"/>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4B075A4B-2E08-7A66-F12B-5216E53C041F}"/>
              </a:ext>
            </a:extLst>
          </p:cNvPr>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a:extLst>
              <a:ext uri="{FF2B5EF4-FFF2-40B4-BE49-F238E27FC236}">
                <a16:creationId xmlns:a16="http://schemas.microsoft.com/office/drawing/2014/main" id="{1A904E5D-CEEA-D1B0-CC3C-AB10395F0CFB}"/>
              </a:ext>
            </a:extLst>
          </p:cNvPr>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a:extLst>
              <a:ext uri="{FF2B5EF4-FFF2-40B4-BE49-F238E27FC236}">
                <a16:creationId xmlns:a16="http://schemas.microsoft.com/office/drawing/2014/main" id="{84EC5EBF-2C27-F075-8121-847826B4BEA8}"/>
              </a:ext>
            </a:extLst>
          </p:cNvPr>
          <p:cNvGrpSpPr/>
          <p:nvPr/>
        </p:nvGrpSpPr>
        <p:grpSpPr>
          <a:xfrm>
            <a:off x="2129385" y="-2859528"/>
            <a:ext cx="3911463" cy="3911463"/>
            <a:chOff x="0" y="0"/>
            <a:chExt cx="812800" cy="812800"/>
          </a:xfrm>
        </p:grpSpPr>
        <p:sp>
          <p:nvSpPr>
            <p:cNvPr id="12" name="Freeform 12">
              <a:extLst>
                <a:ext uri="{FF2B5EF4-FFF2-40B4-BE49-F238E27FC236}">
                  <a16:creationId xmlns:a16="http://schemas.microsoft.com/office/drawing/2014/main" id="{85C388E0-6280-B2B6-450C-8C685EF2E21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3" name="TextBox 13">
              <a:extLst>
                <a:ext uri="{FF2B5EF4-FFF2-40B4-BE49-F238E27FC236}">
                  <a16:creationId xmlns:a16="http://schemas.microsoft.com/office/drawing/2014/main" id="{DA00C229-027D-FAEB-6705-850A6A228742}"/>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6BB87086-97E0-FCD3-23EC-26BFCA2A9756}"/>
              </a:ext>
            </a:extLst>
          </p:cNvPr>
          <p:cNvSpPr txBox="1"/>
          <p:nvPr/>
        </p:nvSpPr>
        <p:spPr>
          <a:xfrm>
            <a:off x="1702232" y="1230454"/>
            <a:ext cx="14883535" cy="1469248"/>
          </a:xfrm>
          <a:prstGeom prst="rect">
            <a:avLst/>
          </a:prstGeom>
        </p:spPr>
        <p:txBody>
          <a:bodyPr wrap="square" lIns="0" tIns="0" rIns="0" bIns="0" rtlCol="0" anchor="t">
            <a:spAutoFit/>
          </a:bodyPr>
          <a:lstStyle/>
          <a:p>
            <a:pPr algn="ctr">
              <a:lnSpc>
                <a:spcPts val="12599"/>
              </a:lnSpc>
            </a:pPr>
            <a:r>
              <a:rPr lang="en-US" sz="9000" b="1" dirty="0">
                <a:solidFill>
                  <a:srgbClr val="000000"/>
                </a:solidFill>
                <a:latin typeface="Proxima Nova Bold"/>
                <a:ea typeface="Proxima Nova Bold"/>
                <a:cs typeface="Proxima Nova Bold"/>
                <a:sym typeface="Proxima Nova Bold"/>
              </a:rPr>
              <a:t>Quantitative Messages</a:t>
            </a:r>
          </a:p>
        </p:txBody>
      </p:sp>
      <p:sp>
        <p:nvSpPr>
          <p:cNvPr id="16" name="TextBox 5">
            <a:extLst>
              <a:ext uri="{FF2B5EF4-FFF2-40B4-BE49-F238E27FC236}">
                <a16:creationId xmlns:a16="http://schemas.microsoft.com/office/drawing/2014/main" id="{61A472A0-D741-DC27-161A-6709E445A6A6}"/>
              </a:ext>
            </a:extLst>
          </p:cNvPr>
          <p:cNvSpPr txBox="1"/>
          <p:nvPr/>
        </p:nvSpPr>
        <p:spPr>
          <a:xfrm>
            <a:off x="2971800" y="3034356"/>
            <a:ext cx="4986899" cy="2480423"/>
          </a:xfrm>
          <a:prstGeom prst="rect">
            <a:avLst/>
          </a:prstGeom>
        </p:spPr>
        <p:txBody>
          <a:bodyPr wrap="square" lIns="0" tIns="0" rIns="0" bIns="0" rtlCol="0" anchor="t">
            <a:spAutoFit/>
          </a:bodyPr>
          <a:lstStyle/>
          <a:p>
            <a:pPr algn="l">
              <a:lnSpc>
                <a:spcPts val="3919"/>
              </a:lnSpc>
            </a:pPr>
            <a:r>
              <a:rPr lang="en-US" sz="2799" b="1" dirty="0">
                <a:solidFill>
                  <a:srgbClr val="000000"/>
                </a:solidFill>
                <a:latin typeface="Nunito" pitchFamily="2" charset="0"/>
                <a:ea typeface="Nunito"/>
                <a:cs typeface="Nunito"/>
                <a:sym typeface="Nunito"/>
              </a:rPr>
              <a:t>Time-Series</a:t>
            </a:r>
          </a:p>
          <a:p>
            <a:pPr>
              <a:lnSpc>
                <a:spcPts val="3919"/>
              </a:lnSpc>
            </a:pPr>
            <a:r>
              <a:rPr lang="en-US" sz="2800" dirty="0">
                <a:latin typeface="Nunito" pitchFamily="2" charset="0"/>
              </a:rPr>
              <a:t>Shows how a variable changes over time e.g., temperature over 10 years</a:t>
            </a:r>
          </a:p>
          <a:p>
            <a:pPr>
              <a:lnSpc>
                <a:spcPts val="3919"/>
              </a:lnSpc>
            </a:pPr>
            <a:r>
              <a:rPr lang="en-US" sz="2799" dirty="0">
                <a:solidFill>
                  <a:srgbClr val="000000"/>
                </a:solidFill>
                <a:latin typeface="Nunito" pitchFamily="2" charset="0"/>
                <a:ea typeface="Nunito"/>
                <a:cs typeface="Nunito"/>
                <a:sym typeface="Nunito"/>
              </a:rPr>
              <a:t>→ Line chart</a:t>
            </a:r>
          </a:p>
        </p:txBody>
      </p:sp>
      <p:grpSp>
        <p:nvGrpSpPr>
          <p:cNvPr id="17" name="Group 17">
            <a:extLst>
              <a:ext uri="{FF2B5EF4-FFF2-40B4-BE49-F238E27FC236}">
                <a16:creationId xmlns:a16="http://schemas.microsoft.com/office/drawing/2014/main" id="{6402B343-BF54-3083-9DF7-9167AF44D35B}"/>
              </a:ext>
            </a:extLst>
          </p:cNvPr>
          <p:cNvGrpSpPr/>
          <p:nvPr/>
        </p:nvGrpSpPr>
        <p:grpSpPr>
          <a:xfrm>
            <a:off x="1932114" y="3091506"/>
            <a:ext cx="840118" cy="840118"/>
            <a:chOff x="0" y="0"/>
            <a:chExt cx="812800" cy="812800"/>
          </a:xfrm>
        </p:grpSpPr>
        <p:sp>
          <p:nvSpPr>
            <p:cNvPr id="18" name="Freeform 18">
              <a:extLst>
                <a:ext uri="{FF2B5EF4-FFF2-40B4-BE49-F238E27FC236}">
                  <a16:creationId xmlns:a16="http://schemas.microsoft.com/office/drawing/2014/main" id="{756CB3F8-E873-1D76-DADB-AC0081A2B64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9" name="TextBox 19">
              <a:extLst>
                <a:ext uri="{FF2B5EF4-FFF2-40B4-BE49-F238E27FC236}">
                  <a16:creationId xmlns:a16="http://schemas.microsoft.com/office/drawing/2014/main" id="{F7570BC0-2243-623A-9EDE-6E9846E491B1}"/>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20" name="TextBox 23">
            <a:extLst>
              <a:ext uri="{FF2B5EF4-FFF2-40B4-BE49-F238E27FC236}">
                <a16:creationId xmlns:a16="http://schemas.microsoft.com/office/drawing/2014/main" id="{92E60E9B-4D5C-B8A9-3C6E-DECC633B8787}"/>
              </a:ext>
            </a:extLst>
          </p:cNvPr>
          <p:cNvSpPr txBox="1"/>
          <p:nvPr/>
        </p:nvSpPr>
        <p:spPr>
          <a:xfrm>
            <a:off x="1982249" y="3242325"/>
            <a:ext cx="739848" cy="481330"/>
          </a:xfrm>
          <a:prstGeom prst="rect">
            <a:avLst/>
          </a:prstGeom>
        </p:spPr>
        <p:txBody>
          <a:bodyPr lIns="0" tIns="0" rIns="0" bIns="0" rtlCol="0" anchor="t">
            <a:spAutoFit/>
          </a:bodyPr>
          <a:lstStyle/>
          <a:p>
            <a:pPr algn="ctr">
              <a:lnSpc>
                <a:spcPts val="3919"/>
              </a:lnSpc>
            </a:pPr>
            <a:r>
              <a:rPr lang="en-US" sz="2799" b="1" dirty="0">
                <a:solidFill>
                  <a:srgbClr val="FFFFFF"/>
                </a:solidFill>
                <a:latin typeface="Nunito Bold"/>
                <a:ea typeface="Nunito Bold"/>
                <a:cs typeface="Nunito Bold"/>
                <a:sym typeface="Nunito Bold"/>
              </a:rPr>
              <a:t>01</a:t>
            </a:r>
          </a:p>
        </p:txBody>
      </p:sp>
      <p:sp>
        <p:nvSpPr>
          <p:cNvPr id="67" name="TextBox 5">
            <a:extLst>
              <a:ext uri="{FF2B5EF4-FFF2-40B4-BE49-F238E27FC236}">
                <a16:creationId xmlns:a16="http://schemas.microsoft.com/office/drawing/2014/main" id="{DBDCD4C1-49D2-CD18-5903-9C7FC810511C}"/>
              </a:ext>
            </a:extLst>
          </p:cNvPr>
          <p:cNvSpPr txBox="1"/>
          <p:nvPr/>
        </p:nvSpPr>
        <p:spPr>
          <a:xfrm>
            <a:off x="2971800" y="5960688"/>
            <a:ext cx="4986899" cy="2480423"/>
          </a:xfrm>
          <a:prstGeom prst="rect">
            <a:avLst/>
          </a:prstGeom>
        </p:spPr>
        <p:txBody>
          <a:bodyPr wrap="square" lIns="0" tIns="0" rIns="0" bIns="0" rtlCol="0" anchor="t">
            <a:spAutoFit/>
          </a:bodyPr>
          <a:lstStyle/>
          <a:p>
            <a:pPr algn="l">
              <a:lnSpc>
                <a:spcPts val="3919"/>
              </a:lnSpc>
            </a:pPr>
            <a:r>
              <a:rPr lang="en-US" sz="2799" b="1" dirty="0">
                <a:solidFill>
                  <a:srgbClr val="000000"/>
                </a:solidFill>
                <a:latin typeface="Nunito" pitchFamily="2" charset="0"/>
                <a:ea typeface="Nunito"/>
                <a:cs typeface="Nunito"/>
                <a:sym typeface="Nunito"/>
              </a:rPr>
              <a:t>Part-to-Whole</a:t>
            </a:r>
          </a:p>
          <a:p>
            <a:pPr>
              <a:lnSpc>
                <a:spcPts val="3919"/>
              </a:lnSpc>
            </a:pPr>
            <a:r>
              <a:rPr lang="en-US" sz="2800" dirty="0">
                <a:latin typeface="Nunito" pitchFamily="2" charset="0"/>
              </a:rPr>
              <a:t>Shows proportions of a whole (percentages) e.g., market share by brand</a:t>
            </a:r>
          </a:p>
          <a:p>
            <a:pPr>
              <a:lnSpc>
                <a:spcPts val="3919"/>
              </a:lnSpc>
            </a:pPr>
            <a:r>
              <a:rPr lang="en-US" sz="2799" dirty="0">
                <a:solidFill>
                  <a:srgbClr val="000000"/>
                </a:solidFill>
                <a:latin typeface="Nunito" pitchFamily="2" charset="0"/>
                <a:ea typeface="Nunito"/>
                <a:cs typeface="Nunito"/>
                <a:sym typeface="Nunito"/>
              </a:rPr>
              <a:t>→ Pie chart, bar chart</a:t>
            </a:r>
          </a:p>
        </p:txBody>
      </p:sp>
      <p:grpSp>
        <p:nvGrpSpPr>
          <p:cNvPr id="68" name="Group 17">
            <a:extLst>
              <a:ext uri="{FF2B5EF4-FFF2-40B4-BE49-F238E27FC236}">
                <a16:creationId xmlns:a16="http://schemas.microsoft.com/office/drawing/2014/main" id="{3AED05E6-EDC1-8603-0F90-595FA2041BDF}"/>
              </a:ext>
            </a:extLst>
          </p:cNvPr>
          <p:cNvGrpSpPr/>
          <p:nvPr/>
        </p:nvGrpSpPr>
        <p:grpSpPr>
          <a:xfrm>
            <a:off x="1932114" y="6017838"/>
            <a:ext cx="840118" cy="840118"/>
            <a:chOff x="0" y="0"/>
            <a:chExt cx="812800" cy="812800"/>
          </a:xfrm>
        </p:grpSpPr>
        <p:sp>
          <p:nvSpPr>
            <p:cNvPr id="69" name="Freeform 18">
              <a:extLst>
                <a:ext uri="{FF2B5EF4-FFF2-40B4-BE49-F238E27FC236}">
                  <a16:creationId xmlns:a16="http://schemas.microsoft.com/office/drawing/2014/main" id="{C707FF92-7BAA-C6BD-0F0D-EDD5C0C95AE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70" name="TextBox 19">
              <a:extLst>
                <a:ext uri="{FF2B5EF4-FFF2-40B4-BE49-F238E27FC236}">
                  <a16:creationId xmlns:a16="http://schemas.microsoft.com/office/drawing/2014/main" id="{A3880F33-5B25-F40E-9CAE-3045744D33F6}"/>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71" name="TextBox 23">
            <a:extLst>
              <a:ext uri="{FF2B5EF4-FFF2-40B4-BE49-F238E27FC236}">
                <a16:creationId xmlns:a16="http://schemas.microsoft.com/office/drawing/2014/main" id="{D370723B-E200-03FF-58F6-BE5A5F46F7A2}"/>
              </a:ext>
            </a:extLst>
          </p:cNvPr>
          <p:cNvSpPr txBox="1"/>
          <p:nvPr/>
        </p:nvSpPr>
        <p:spPr>
          <a:xfrm>
            <a:off x="1982249" y="6168657"/>
            <a:ext cx="739848" cy="481330"/>
          </a:xfrm>
          <a:prstGeom prst="rect">
            <a:avLst/>
          </a:prstGeom>
        </p:spPr>
        <p:txBody>
          <a:bodyPr lIns="0" tIns="0" rIns="0" bIns="0" rtlCol="0" anchor="t">
            <a:spAutoFit/>
          </a:bodyPr>
          <a:lstStyle/>
          <a:p>
            <a:pPr algn="ctr">
              <a:lnSpc>
                <a:spcPts val="3919"/>
              </a:lnSpc>
            </a:pPr>
            <a:r>
              <a:rPr lang="en-US" sz="2799" b="1" dirty="0">
                <a:solidFill>
                  <a:srgbClr val="FFFFFF"/>
                </a:solidFill>
                <a:latin typeface="Nunito Bold"/>
                <a:ea typeface="Nunito Bold"/>
                <a:cs typeface="Nunito Bold"/>
                <a:sym typeface="Nunito Bold"/>
              </a:rPr>
              <a:t>03</a:t>
            </a:r>
          </a:p>
        </p:txBody>
      </p:sp>
      <p:sp>
        <p:nvSpPr>
          <p:cNvPr id="72" name="TextBox 5">
            <a:extLst>
              <a:ext uri="{FF2B5EF4-FFF2-40B4-BE49-F238E27FC236}">
                <a16:creationId xmlns:a16="http://schemas.microsoft.com/office/drawing/2014/main" id="{8208A501-F588-16C9-D5CF-A22DFD2B04D9}"/>
              </a:ext>
            </a:extLst>
          </p:cNvPr>
          <p:cNvSpPr txBox="1"/>
          <p:nvPr/>
        </p:nvSpPr>
        <p:spPr>
          <a:xfrm>
            <a:off x="10140708" y="3034356"/>
            <a:ext cx="4986899" cy="2480423"/>
          </a:xfrm>
          <a:prstGeom prst="rect">
            <a:avLst/>
          </a:prstGeom>
        </p:spPr>
        <p:txBody>
          <a:bodyPr wrap="square" lIns="0" tIns="0" rIns="0" bIns="0" rtlCol="0" anchor="t">
            <a:spAutoFit/>
          </a:bodyPr>
          <a:lstStyle/>
          <a:p>
            <a:pPr algn="l">
              <a:lnSpc>
                <a:spcPts val="3919"/>
              </a:lnSpc>
            </a:pPr>
            <a:r>
              <a:rPr lang="en-US" sz="2799" b="1" dirty="0">
                <a:solidFill>
                  <a:srgbClr val="000000"/>
                </a:solidFill>
                <a:latin typeface="Nunito" pitchFamily="2" charset="0"/>
                <a:ea typeface="Nunito"/>
                <a:cs typeface="Nunito"/>
                <a:sym typeface="Nunito"/>
              </a:rPr>
              <a:t>Ranking</a:t>
            </a:r>
          </a:p>
          <a:p>
            <a:pPr>
              <a:lnSpc>
                <a:spcPts val="3919"/>
              </a:lnSpc>
            </a:pPr>
            <a:r>
              <a:rPr lang="en-US" sz="2800" dirty="0">
                <a:latin typeface="Nunito" pitchFamily="2" charset="0"/>
              </a:rPr>
              <a:t>Orders categories by size (ascending or descending) e.g., top-performing sales reps </a:t>
            </a:r>
          </a:p>
          <a:p>
            <a:pPr>
              <a:lnSpc>
                <a:spcPts val="3919"/>
              </a:lnSpc>
            </a:pPr>
            <a:r>
              <a:rPr lang="en-US" sz="2799" dirty="0">
                <a:solidFill>
                  <a:srgbClr val="000000"/>
                </a:solidFill>
                <a:latin typeface="Nunito" pitchFamily="2" charset="0"/>
                <a:ea typeface="Nunito"/>
                <a:cs typeface="Nunito"/>
                <a:sym typeface="Nunito"/>
              </a:rPr>
              <a:t>→ Bar chart</a:t>
            </a:r>
          </a:p>
        </p:txBody>
      </p:sp>
      <p:grpSp>
        <p:nvGrpSpPr>
          <p:cNvPr id="73" name="Group 17">
            <a:extLst>
              <a:ext uri="{FF2B5EF4-FFF2-40B4-BE49-F238E27FC236}">
                <a16:creationId xmlns:a16="http://schemas.microsoft.com/office/drawing/2014/main" id="{DFB64390-AAE5-3DA0-8E48-1BEA04B4078B}"/>
              </a:ext>
            </a:extLst>
          </p:cNvPr>
          <p:cNvGrpSpPr/>
          <p:nvPr/>
        </p:nvGrpSpPr>
        <p:grpSpPr>
          <a:xfrm>
            <a:off x="9101022" y="3091506"/>
            <a:ext cx="840118" cy="840118"/>
            <a:chOff x="0" y="0"/>
            <a:chExt cx="812800" cy="812800"/>
          </a:xfrm>
        </p:grpSpPr>
        <p:sp>
          <p:nvSpPr>
            <p:cNvPr id="74" name="Freeform 18">
              <a:extLst>
                <a:ext uri="{FF2B5EF4-FFF2-40B4-BE49-F238E27FC236}">
                  <a16:creationId xmlns:a16="http://schemas.microsoft.com/office/drawing/2014/main" id="{391646AB-64CF-47FD-F219-7C1E913CE34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75" name="TextBox 19">
              <a:extLst>
                <a:ext uri="{FF2B5EF4-FFF2-40B4-BE49-F238E27FC236}">
                  <a16:creationId xmlns:a16="http://schemas.microsoft.com/office/drawing/2014/main" id="{3C903B86-4468-DEFA-2578-A724B87B1B8E}"/>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76" name="TextBox 23">
            <a:extLst>
              <a:ext uri="{FF2B5EF4-FFF2-40B4-BE49-F238E27FC236}">
                <a16:creationId xmlns:a16="http://schemas.microsoft.com/office/drawing/2014/main" id="{DA6F75AB-AA8A-D595-E4C4-703DCE56C6AA}"/>
              </a:ext>
            </a:extLst>
          </p:cNvPr>
          <p:cNvSpPr txBox="1"/>
          <p:nvPr/>
        </p:nvSpPr>
        <p:spPr>
          <a:xfrm>
            <a:off x="9151157" y="3242325"/>
            <a:ext cx="739848" cy="481330"/>
          </a:xfrm>
          <a:prstGeom prst="rect">
            <a:avLst/>
          </a:prstGeom>
        </p:spPr>
        <p:txBody>
          <a:bodyPr lIns="0" tIns="0" rIns="0" bIns="0" rtlCol="0" anchor="t">
            <a:spAutoFit/>
          </a:bodyPr>
          <a:lstStyle/>
          <a:p>
            <a:pPr algn="ctr">
              <a:lnSpc>
                <a:spcPts val="3919"/>
              </a:lnSpc>
            </a:pPr>
            <a:r>
              <a:rPr lang="en-US" sz="2799" b="1" dirty="0">
                <a:solidFill>
                  <a:srgbClr val="FFFFFF"/>
                </a:solidFill>
                <a:latin typeface="Nunito Bold"/>
                <a:ea typeface="Nunito Bold"/>
                <a:cs typeface="Nunito Bold"/>
                <a:sym typeface="Nunito Bold"/>
              </a:rPr>
              <a:t>02</a:t>
            </a:r>
          </a:p>
        </p:txBody>
      </p:sp>
      <p:sp>
        <p:nvSpPr>
          <p:cNvPr id="77" name="TextBox 5">
            <a:extLst>
              <a:ext uri="{FF2B5EF4-FFF2-40B4-BE49-F238E27FC236}">
                <a16:creationId xmlns:a16="http://schemas.microsoft.com/office/drawing/2014/main" id="{2EEB1514-5131-359B-522C-07D7446615DC}"/>
              </a:ext>
            </a:extLst>
          </p:cNvPr>
          <p:cNvSpPr txBox="1"/>
          <p:nvPr/>
        </p:nvSpPr>
        <p:spPr>
          <a:xfrm>
            <a:off x="10140708" y="5960688"/>
            <a:ext cx="4986899" cy="2480423"/>
          </a:xfrm>
          <a:prstGeom prst="rect">
            <a:avLst/>
          </a:prstGeom>
        </p:spPr>
        <p:txBody>
          <a:bodyPr wrap="square" lIns="0" tIns="0" rIns="0" bIns="0" rtlCol="0" anchor="t">
            <a:spAutoFit/>
          </a:bodyPr>
          <a:lstStyle/>
          <a:p>
            <a:pPr algn="l">
              <a:lnSpc>
                <a:spcPts val="3919"/>
              </a:lnSpc>
            </a:pPr>
            <a:r>
              <a:rPr lang="en-US" sz="2799" b="1" dirty="0">
                <a:solidFill>
                  <a:srgbClr val="000000"/>
                </a:solidFill>
                <a:latin typeface="Nunito" pitchFamily="2" charset="0"/>
                <a:ea typeface="Nunito"/>
                <a:cs typeface="Nunito"/>
                <a:sym typeface="Nunito"/>
              </a:rPr>
              <a:t>Deviation</a:t>
            </a:r>
          </a:p>
          <a:p>
            <a:pPr algn="l">
              <a:lnSpc>
                <a:spcPts val="3919"/>
              </a:lnSpc>
            </a:pPr>
            <a:r>
              <a:rPr lang="en-US" sz="2800" dirty="0">
                <a:latin typeface="Nunito" pitchFamily="2" charset="0"/>
              </a:rPr>
              <a:t>Highlights difference from a reference point e.g., budget vs. actual expenses</a:t>
            </a:r>
          </a:p>
          <a:p>
            <a:pPr algn="l">
              <a:lnSpc>
                <a:spcPts val="3919"/>
              </a:lnSpc>
            </a:pPr>
            <a:r>
              <a:rPr lang="en-US" sz="2799" dirty="0">
                <a:solidFill>
                  <a:srgbClr val="000000"/>
                </a:solidFill>
                <a:latin typeface="Nunito" pitchFamily="2" charset="0"/>
                <a:ea typeface="Nunito"/>
                <a:cs typeface="Nunito"/>
                <a:sym typeface="Nunito"/>
              </a:rPr>
              <a:t>→ Bar chart</a:t>
            </a:r>
          </a:p>
        </p:txBody>
      </p:sp>
      <p:grpSp>
        <p:nvGrpSpPr>
          <p:cNvPr id="78" name="Group 17">
            <a:extLst>
              <a:ext uri="{FF2B5EF4-FFF2-40B4-BE49-F238E27FC236}">
                <a16:creationId xmlns:a16="http://schemas.microsoft.com/office/drawing/2014/main" id="{683FDC83-635C-8933-B002-0D6F6A13CCEC}"/>
              </a:ext>
            </a:extLst>
          </p:cNvPr>
          <p:cNvGrpSpPr/>
          <p:nvPr/>
        </p:nvGrpSpPr>
        <p:grpSpPr>
          <a:xfrm>
            <a:off x="9101022" y="6017838"/>
            <a:ext cx="840118" cy="840118"/>
            <a:chOff x="0" y="0"/>
            <a:chExt cx="812800" cy="812800"/>
          </a:xfrm>
        </p:grpSpPr>
        <p:sp>
          <p:nvSpPr>
            <p:cNvPr id="79" name="Freeform 18">
              <a:extLst>
                <a:ext uri="{FF2B5EF4-FFF2-40B4-BE49-F238E27FC236}">
                  <a16:creationId xmlns:a16="http://schemas.microsoft.com/office/drawing/2014/main" id="{71B04564-E36C-6571-7DE5-FF1EEC9ABFF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80" name="TextBox 19">
              <a:extLst>
                <a:ext uri="{FF2B5EF4-FFF2-40B4-BE49-F238E27FC236}">
                  <a16:creationId xmlns:a16="http://schemas.microsoft.com/office/drawing/2014/main" id="{18CFF6A6-32E2-681D-9BA5-311919D8B2A2}"/>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1" name="TextBox 23">
            <a:extLst>
              <a:ext uri="{FF2B5EF4-FFF2-40B4-BE49-F238E27FC236}">
                <a16:creationId xmlns:a16="http://schemas.microsoft.com/office/drawing/2014/main" id="{77F2CAEF-B762-99B2-98AF-2873142A7F06}"/>
              </a:ext>
            </a:extLst>
          </p:cNvPr>
          <p:cNvSpPr txBox="1"/>
          <p:nvPr/>
        </p:nvSpPr>
        <p:spPr>
          <a:xfrm>
            <a:off x="9151157" y="6168657"/>
            <a:ext cx="739848" cy="481330"/>
          </a:xfrm>
          <a:prstGeom prst="rect">
            <a:avLst/>
          </a:prstGeom>
        </p:spPr>
        <p:txBody>
          <a:bodyPr lIns="0" tIns="0" rIns="0" bIns="0" rtlCol="0" anchor="t">
            <a:spAutoFit/>
          </a:bodyPr>
          <a:lstStyle/>
          <a:p>
            <a:pPr algn="ctr">
              <a:lnSpc>
                <a:spcPts val="3919"/>
              </a:lnSpc>
            </a:pPr>
            <a:r>
              <a:rPr lang="en-US" sz="2799" b="1" dirty="0">
                <a:solidFill>
                  <a:srgbClr val="FFFFFF"/>
                </a:solidFill>
                <a:latin typeface="Nunito Bold"/>
                <a:ea typeface="Nunito Bold"/>
                <a:cs typeface="Nunito Bold"/>
                <a:sym typeface="Nunito Bold"/>
              </a:rPr>
              <a:t>04</a:t>
            </a:r>
          </a:p>
        </p:txBody>
      </p:sp>
    </p:spTree>
    <p:extLst>
      <p:ext uri="{BB962C8B-B14F-4D97-AF65-F5344CB8AC3E}">
        <p14:creationId xmlns:p14="http://schemas.microsoft.com/office/powerpoint/2010/main" val="23108080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a:extLst>
            <a:ext uri="{FF2B5EF4-FFF2-40B4-BE49-F238E27FC236}">
              <a16:creationId xmlns:a16="http://schemas.microsoft.com/office/drawing/2014/main" id="{6EF200FE-B529-4E4C-34D9-F91E8ED4E87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C7A2BEB-CA61-FA61-4579-3B745CA1DFB5}"/>
              </a:ext>
            </a:extLst>
          </p:cNvPr>
          <p:cNvSpPr/>
          <p:nvPr/>
        </p:nvSpPr>
        <p:spPr>
          <a:xfrm>
            <a:off x="-2057400" y="-12589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a:extLst>
              <a:ext uri="{FF2B5EF4-FFF2-40B4-BE49-F238E27FC236}">
                <a16:creationId xmlns:a16="http://schemas.microsoft.com/office/drawing/2014/main" id="{18482A99-A528-24A1-278D-1FB69239A0A7}"/>
              </a:ext>
            </a:extLst>
          </p:cNvPr>
          <p:cNvSpPr/>
          <p:nvPr/>
        </p:nvSpPr>
        <p:spPr>
          <a:xfrm>
            <a:off x="-1702233" y="-903796"/>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a:extLst>
              <a:ext uri="{FF2B5EF4-FFF2-40B4-BE49-F238E27FC236}">
                <a16:creationId xmlns:a16="http://schemas.microsoft.com/office/drawing/2014/main" id="{5B8F565F-C65D-D13E-FE5B-25B6D60B8C5B}"/>
              </a:ext>
            </a:extLst>
          </p:cNvPr>
          <p:cNvSpPr/>
          <p:nvPr/>
        </p:nvSpPr>
        <p:spPr>
          <a:xfrm>
            <a:off x="16230600" y="72009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a:extLst>
              <a:ext uri="{FF2B5EF4-FFF2-40B4-BE49-F238E27FC236}">
                <a16:creationId xmlns:a16="http://schemas.microsoft.com/office/drawing/2014/main" id="{FAFDCCA3-655E-B876-DFFC-1A2D2DE13FED}"/>
              </a:ext>
            </a:extLst>
          </p:cNvPr>
          <p:cNvSpPr/>
          <p:nvPr/>
        </p:nvSpPr>
        <p:spPr>
          <a:xfrm>
            <a:off x="16585767" y="7556067"/>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a:extLst>
              <a:ext uri="{FF2B5EF4-FFF2-40B4-BE49-F238E27FC236}">
                <a16:creationId xmlns:a16="http://schemas.microsoft.com/office/drawing/2014/main" id="{491A4B9F-D86A-B6A8-2248-9D19603A8BBA}"/>
              </a:ext>
            </a:extLst>
          </p:cNvPr>
          <p:cNvGrpSpPr/>
          <p:nvPr/>
        </p:nvGrpSpPr>
        <p:grpSpPr>
          <a:xfrm>
            <a:off x="12319137" y="9258300"/>
            <a:ext cx="3911463" cy="3911463"/>
            <a:chOff x="0" y="0"/>
            <a:chExt cx="812800" cy="812800"/>
          </a:xfrm>
        </p:grpSpPr>
        <p:sp>
          <p:nvSpPr>
            <p:cNvPr id="7" name="Freeform 7">
              <a:extLst>
                <a:ext uri="{FF2B5EF4-FFF2-40B4-BE49-F238E27FC236}">
                  <a16:creationId xmlns:a16="http://schemas.microsoft.com/office/drawing/2014/main" id="{BB8E8DF4-E058-3752-069F-B10D573FCE0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8" name="TextBox 8">
              <a:extLst>
                <a:ext uri="{FF2B5EF4-FFF2-40B4-BE49-F238E27FC236}">
                  <a16:creationId xmlns:a16="http://schemas.microsoft.com/office/drawing/2014/main" id="{D17E0EAC-148F-94A5-3380-45C165CE0CB8}"/>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914438F0-C4CB-2D15-5FE2-1220E58F85EE}"/>
              </a:ext>
            </a:extLst>
          </p:cNvPr>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a:extLst>
              <a:ext uri="{FF2B5EF4-FFF2-40B4-BE49-F238E27FC236}">
                <a16:creationId xmlns:a16="http://schemas.microsoft.com/office/drawing/2014/main" id="{89E3E853-879D-C14B-F0BB-D40BFF209647}"/>
              </a:ext>
            </a:extLst>
          </p:cNvPr>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a:extLst>
              <a:ext uri="{FF2B5EF4-FFF2-40B4-BE49-F238E27FC236}">
                <a16:creationId xmlns:a16="http://schemas.microsoft.com/office/drawing/2014/main" id="{7EECC46B-3C5F-8D98-28FF-CF70221DC8FD}"/>
              </a:ext>
            </a:extLst>
          </p:cNvPr>
          <p:cNvGrpSpPr/>
          <p:nvPr/>
        </p:nvGrpSpPr>
        <p:grpSpPr>
          <a:xfrm>
            <a:off x="2129385" y="-2859528"/>
            <a:ext cx="3911463" cy="3911463"/>
            <a:chOff x="0" y="0"/>
            <a:chExt cx="812800" cy="812800"/>
          </a:xfrm>
        </p:grpSpPr>
        <p:sp>
          <p:nvSpPr>
            <p:cNvPr id="12" name="Freeform 12">
              <a:extLst>
                <a:ext uri="{FF2B5EF4-FFF2-40B4-BE49-F238E27FC236}">
                  <a16:creationId xmlns:a16="http://schemas.microsoft.com/office/drawing/2014/main" id="{30EAAFFB-ABF4-9814-89BE-EAA08C66F34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3" name="TextBox 13">
              <a:extLst>
                <a:ext uri="{FF2B5EF4-FFF2-40B4-BE49-F238E27FC236}">
                  <a16:creationId xmlns:a16="http://schemas.microsoft.com/office/drawing/2014/main" id="{65BC76BA-AF10-0CAA-2369-CF20065750B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2943DC60-4799-C21F-1D6C-2D649BA8AEBC}"/>
              </a:ext>
            </a:extLst>
          </p:cNvPr>
          <p:cNvSpPr txBox="1"/>
          <p:nvPr/>
        </p:nvSpPr>
        <p:spPr>
          <a:xfrm>
            <a:off x="1702232" y="1230454"/>
            <a:ext cx="14883535" cy="1469248"/>
          </a:xfrm>
          <a:prstGeom prst="rect">
            <a:avLst/>
          </a:prstGeom>
        </p:spPr>
        <p:txBody>
          <a:bodyPr wrap="square" lIns="0" tIns="0" rIns="0" bIns="0" rtlCol="0" anchor="t">
            <a:spAutoFit/>
          </a:bodyPr>
          <a:lstStyle/>
          <a:p>
            <a:pPr algn="ctr">
              <a:lnSpc>
                <a:spcPts val="12599"/>
              </a:lnSpc>
            </a:pPr>
            <a:r>
              <a:rPr lang="en-US" sz="9000" b="1" dirty="0">
                <a:solidFill>
                  <a:srgbClr val="000000"/>
                </a:solidFill>
                <a:latin typeface="Proxima Nova Bold"/>
                <a:ea typeface="Proxima Nova Bold"/>
                <a:cs typeface="Proxima Nova Bold"/>
                <a:sym typeface="Proxima Nova Bold"/>
              </a:rPr>
              <a:t>Quantitative Messages</a:t>
            </a:r>
          </a:p>
        </p:txBody>
      </p:sp>
      <p:sp>
        <p:nvSpPr>
          <p:cNvPr id="16" name="TextBox 5">
            <a:extLst>
              <a:ext uri="{FF2B5EF4-FFF2-40B4-BE49-F238E27FC236}">
                <a16:creationId xmlns:a16="http://schemas.microsoft.com/office/drawing/2014/main" id="{1889AFB6-A0F2-E188-F4E8-B02BDEFF15D9}"/>
              </a:ext>
            </a:extLst>
          </p:cNvPr>
          <p:cNvSpPr txBox="1"/>
          <p:nvPr/>
        </p:nvSpPr>
        <p:spPr>
          <a:xfrm>
            <a:off x="2971800" y="3034356"/>
            <a:ext cx="5175493" cy="2480423"/>
          </a:xfrm>
          <a:prstGeom prst="rect">
            <a:avLst/>
          </a:prstGeom>
        </p:spPr>
        <p:txBody>
          <a:bodyPr wrap="square" lIns="0" tIns="0" rIns="0" bIns="0" rtlCol="0" anchor="t">
            <a:spAutoFit/>
          </a:bodyPr>
          <a:lstStyle/>
          <a:p>
            <a:pPr algn="l">
              <a:lnSpc>
                <a:spcPts val="3919"/>
              </a:lnSpc>
            </a:pPr>
            <a:r>
              <a:rPr lang="en-US" sz="2799" b="1" dirty="0">
                <a:solidFill>
                  <a:srgbClr val="000000"/>
                </a:solidFill>
                <a:latin typeface="Nunito" pitchFamily="2" charset="0"/>
                <a:ea typeface="Nunito"/>
                <a:cs typeface="Nunito"/>
                <a:sym typeface="Nunito"/>
              </a:rPr>
              <a:t>Frequency Distribution</a:t>
            </a:r>
          </a:p>
          <a:p>
            <a:pPr algn="l">
              <a:lnSpc>
                <a:spcPts val="3919"/>
              </a:lnSpc>
            </a:pPr>
            <a:r>
              <a:rPr lang="en-US" sz="2799" dirty="0">
                <a:solidFill>
                  <a:srgbClr val="000000"/>
                </a:solidFill>
                <a:latin typeface="Nunito" pitchFamily="2" charset="0"/>
                <a:ea typeface="Nunito"/>
                <a:cs typeface="Nunito"/>
                <a:sym typeface="Nunito"/>
              </a:rPr>
              <a:t>Shows how often values occur within defined intervals e.g., stock returns grouped in ranges</a:t>
            </a:r>
          </a:p>
          <a:p>
            <a:pPr algn="l">
              <a:lnSpc>
                <a:spcPts val="3919"/>
              </a:lnSpc>
            </a:pPr>
            <a:r>
              <a:rPr lang="en-US" sz="2799" dirty="0">
                <a:solidFill>
                  <a:srgbClr val="000000"/>
                </a:solidFill>
                <a:latin typeface="Nunito" pitchFamily="2" charset="0"/>
                <a:ea typeface="Nunito"/>
                <a:cs typeface="Nunito"/>
                <a:sym typeface="Nunito"/>
              </a:rPr>
              <a:t>→ Histogram, boxplot</a:t>
            </a:r>
          </a:p>
        </p:txBody>
      </p:sp>
      <p:grpSp>
        <p:nvGrpSpPr>
          <p:cNvPr id="17" name="Group 17">
            <a:extLst>
              <a:ext uri="{FF2B5EF4-FFF2-40B4-BE49-F238E27FC236}">
                <a16:creationId xmlns:a16="http://schemas.microsoft.com/office/drawing/2014/main" id="{D72036EE-41F3-F75E-C15A-13BC1CC216D8}"/>
              </a:ext>
            </a:extLst>
          </p:cNvPr>
          <p:cNvGrpSpPr/>
          <p:nvPr/>
        </p:nvGrpSpPr>
        <p:grpSpPr>
          <a:xfrm>
            <a:off x="1932114" y="3091506"/>
            <a:ext cx="840118" cy="840118"/>
            <a:chOff x="0" y="0"/>
            <a:chExt cx="812800" cy="812800"/>
          </a:xfrm>
        </p:grpSpPr>
        <p:sp>
          <p:nvSpPr>
            <p:cNvPr id="18" name="Freeform 18">
              <a:extLst>
                <a:ext uri="{FF2B5EF4-FFF2-40B4-BE49-F238E27FC236}">
                  <a16:creationId xmlns:a16="http://schemas.microsoft.com/office/drawing/2014/main" id="{D831FA57-697C-C3C3-965C-B10CE5186B6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9" name="TextBox 19">
              <a:extLst>
                <a:ext uri="{FF2B5EF4-FFF2-40B4-BE49-F238E27FC236}">
                  <a16:creationId xmlns:a16="http://schemas.microsoft.com/office/drawing/2014/main" id="{45A932BE-525B-4456-1F23-2A6797CB908F}"/>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20" name="TextBox 23">
            <a:extLst>
              <a:ext uri="{FF2B5EF4-FFF2-40B4-BE49-F238E27FC236}">
                <a16:creationId xmlns:a16="http://schemas.microsoft.com/office/drawing/2014/main" id="{E5074B68-2C01-93A2-493B-0D132CA533E1}"/>
              </a:ext>
            </a:extLst>
          </p:cNvPr>
          <p:cNvSpPr txBox="1"/>
          <p:nvPr/>
        </p:nvSpPr>
        <p:spPr>
          <a:xfrm>
            <a:off x="1982249" y="3242325"/>
            <a:ext cx="739848" cy="481330"/>
          </a:xfrm>
          <a:prstGeom prst="rect">
            <a:avLst/>
          </a:prstGeom>
        </p:spPr>
        <p:txBody>
          <a:bodyPr lIns="0" tIns="0" rIns="0" bIns="0" rtlCol="0" anchor="t">
            <a:spAutoFit/>
          </a:bodyPr>
          <a:lstStyle/>
          <a:p>
            <a:pPr algn="ctr">
              <a:lnSpc>
                <a:spcPts val="3919"/>
              </a:lnSpc>
            </a:pPr>
            <a:r>
              <a:rPr lang="en-US" sz="2799" b="1" dirty="0">
                <a:solidFill>
                  <a:srgbClr val="FFFFFF"/>
                </a:solidFill>
                <a:latin typeface="Nunito Bold"/>
                <a:ea typeface="Nunito Bold"/>
                <a:cs typeface="Nunito Bold"/>
                <a:sym typeface="Nunito Bold"/>
              </a:rPr>
              <a:t>05</a:t>
            </a:r>
          </a:p>
        </p:txBody>
      </p:sp>
      <p:sp>
        <p:nvSpPr>
          <p:cNvPr id="67" name="TextBox 5">
            <a:extLst>
              <a:ext uri="{FF2B5EF4-FFF2-40B4-BE49-F238E27FC236}">
                <a16:creationId xmlns:a16="http://schemas.microsoft.com/office/drawing/2014/main" id="{23144B84-928F-C806-0620-69DBBF9BA87F}"/>
              </a:ext>
            </a:extLst>
          </p:cNvPr>
          <p:cNvSpPr txBox="1"/>
          <p:nvPr/>
        </p:nvSpPr>
        <p:spPr>
          <a:xfrm>
            <a:off x="2971800" y="5960688"/>
            <a:ext cx="5175493" cy="2480487"/>
          </a:xfrm>
          <a:prstGeom prst="rect">
            <a:avLst/>
          </a:prstGeom>
        </p:spPr>
        <p:txBody>
          <a:bodyPr wrap="square" lIns="0" tIns="0" rIns="0" bIns="0" rtlCol="0" anchor="t">
            <a:spAutoFit/>
          </a:bodyPr>
          <a:lstStyle/>
          <a:p>
            <a:pPr algn="l">
              <a:lnSpc>
                <a:spcPts val="3919"/>
              </a:lnSpc>
            </a:pPr>
            <a:r>
              <a:rPr lang="en-US" sz="2799" b="1" dirty="0">
                <a:solidFill>
                  <a:srgbClr val="000000"/>
                </a:solidFill>
                <a:latin typeface="Nunito" pitchFamily="2" charset="0"/>
                <a:ea typeface="Nunito"/>
                <a:cs typeface="Nunito"/>
                <a:sym typeface="Nunito"/>
              </a:rPr>
              <a:t>Nominal Comparison</a:t>
            </a:r>
          </a:p>
          <a:p>
            <a:pPr>
              <a:lnSpc>
                <a:spcPts val="3919"/>
              </a:lnSpc>
            </a:pPr>
            <a:r>
              <a:rPr lang="en-US" sz="2800" dirty="0">
                <a:latin typeface="Nunito" pitchFamily="2" charset="0"/>
              </a:rPr>
              <a:t>Compares values across unordered categories e.g., sales by product code</a:t>
            </a:r>
          </a:p>
          <a:p>
            <a:pPr>
              <a:lnSpc>
                <a:spcPts val="3919"/>
              </a:lnSpc>
            </a:pPr>
            <a:r>
              <a:rPr lang="en-US" sz="2800" dirty="0">
                <a:latin typeface="Nunito" pitchFamily="2" charset="0"/>
              </a:rPr>
              <a:t>→ Bar chart</a:t>
            </a:r>
            <a:endParaRPr lang="en-US" sz="2799" dirty="0">
              <a:solidFill>
                <a:srgbClr val="000000"/>
              </a:solidFill>
              <a:latin typeface="Nunito" pitchFamily="2" charset="0"/>
              <a:ea typeface="Nunito"/>
              <a:cs typeface="Nunito"/>
              <a:sym typeface="Nunito"/>
            </a:endParaRPr>
          </a:p>
        </p:txBody>
      </p:sp>
      <p:grpSp>
        <p:nvGrpSpPr>
          <p:cNvPr id="68" name="Group 17">
            <a:extLst>
              <a:ext uri="{FF2B5EF4-FFF2-40B4-BE49-F238E27FC236}">
                <a16:creationId xmlns:a16="http://schemas.microsoft.com/office/drawing/2014/main" id="{7849708D-B571-70FB-18D5-D91C4065075B}"/>
              </a:ext>
            </a:extLst>
          </p:cNvPr>
          <p:cNvGrpSpPr/>
          <p:nvPr/>
        </p:nvGrpSpPr>
        <p:grpSpPr>
          <a:xfrm>
            <a:off x="1932114" y="6017838"/>
            <a:ext cx="840118" cy="840118"/>
            <a:chOff x="0" y="0"/>
            <a:chExt cx="812800" cy="812800"/>
          </a:xfrm>
        </p:grpSpPr>
        <p:sp>
          <p:nvSpPr>
            <p:cNvPr id="69" name="Freeform 18">
              <a:extLst>
                <a:ext uri="{FF2B5EF4-FFF2-40B4-BE49-F238E27FC236}">
                  <a16:creationId xmlns:a16="http://schemas.microsoft.com/office/drawing/2014/main" id="{4592D334-91AF-5853-04E9-49C03462236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70" name="TextBox 19">
              <a:extLst>
                <a:ext uri="{FF2B5EF4-FFF2-40B4-BE49-F238E27FC236}">
                  <a16:creationId xmlns:a16="http://schemas.microsoft.com/office/drawing/2014/main" id="{B3B62351-343B-4D8E-8A32-686AB4A13C68}"/>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71" name="TextBox 23">
            <a:extLst>
              <a:ext uri="{FF2B5EF4-FFF2-40B4-BE49-F238E27FC236}">
                <a16:creationId xmlns:a16="http://schemas.microsoft.com/office/drawing/2014/main" id="{1544D485-D672-FFA9-54CC-BBE71E3D5BDF}"/>
              </a:ext>
            </a:extLst>
          </p:cNvPr>
          <p:cNvSpPr txBox="1"/>
          <p:nvPr/>
        </p:nvSpPr>
        <p:spPr>
          <a:xfrm>
            <a:off x="1982249" y="6168657"/>
            <a:ext cx="739848" cy="481330"/>
          </a:xfrm>
          <a:prstGeom prst="rect">
            <a:avLst/>
          </a:prstGeom>
        </p:spPr>
        <p:txBody>
          <a:bodyPr lIns="0" tIns="0" rIns="0" bIns="0" rtlCol="0" anchor="t">
            <a:spAutoFit/>
          </a:bodyPr>
          <a:lstStyle/>
          <a:p>
            <a:pPr algn="ctr">
              <a:lnSpc>
                <a:spcPts val="3919"/>
              </a:lnSpc>
            </a:pPr>
            <a:r>
              <a:rPr lang="en-US" sz="2799" b="1" dirty="0">
                <a:solidFill>
                  <a:srgbClr val="FFFFFF"/>
                </a:solidFill>
                <a:latin typeface="Nunito Bold"/>
                <a:ea typeface="Nunito Bold"/>
                <a:cs typeface="Nunito Bold"/>
                <a:sym typeface="Nunito Bold"/>
              </a:rPr>
              <a:t>07</a:t>
            </a:r>
          </a:p>
        </p:txBody>
      </p:sp>
      <p:sp>
        <p:nvSpPr>
          <p:cNvPr id="72" name="TextBox 5">
            <a:extLst>
              <a:ext uri="{FF2B5EF4-FFF2-40B4-BE49-F238E27FC236}">
                <a16:creationId xmlns:a16="http://schemas.microsoft.com/office/drawing/2014/main" id="{54EEB70B-5332-2D81-4E1D-71262715853D}"/>
              </a:ext>
            </a:extLst>
          </p:cNvPr>
          <p:cNvSpPr txBox="1"/>
          <p:nvPr/>
        </p:nvSpPr>
        <p:spPr>
          <a:xfrm>
            <a:off x="10140708" y="3034356"/>
            <a:ext cx="5175492" cy="2480487"/>
          </a:xfrm>
          <a:prstGeom prst="rect">
            <a:avLst/>
          </a:prstGeom>
        </p:spPr>
        <p:txBody>
          <a:bodyPr wrap="square" lIns="0" tIns="0" rIns="0" bIns="0" rtlCol="0" anchor="t">
            <a:spAutoFit/>
          </a:bodyPr>
          <a:lstStyle/>
          <a:p>
            <a:pPr algn="l">
              <a:lnSpc>
                <a:spcPts val="3919"/>
              </a:lnSpc>
            </a:pPr>
            <a:r>
              <a:rPr lang="en-US" sz="2799" b="1" dirty="0">
                <a:solidFill>
                  <a:srgbClr val="000000"/>
                </a:solidFill>
                <a:latin typeface="Nunito" pitchFamily="2" charset="0"/>
                <a:ea typeface="Nunito"/>
                <a:cs typeface="Nunito"/>
                <a:sym typeface="Nunito"/>
              </a:rPr>
              <a:t>Correlation</a:t>
            </a:r>
          </a:p>
          <a:p>
            <a:pPr algn="l">
              <a:lnSpc>
                <a:spcPts val="3919"/>
              </a:lnSpc>
            </a:pPr>
            <a:r>
              <a:rPr lang="en-US" sz="2800" dirty="0">
                <a:latin typeface="Nunito" pitchFamily="2" charset="0"/>
              </a:rPr>
              <a:t>Shows the relationship between two numerical variables e.g., inflation vs. unemployment</a:t>
            </a:r>
          </a:p>
          <a:p>
            <a:pPr>
              <a:lnSpc>
                <a:spcPts val="3919"/>
              </a:lnSpc>
            </a:pPr>
            <a:r>
              <a:rPr lang="en-US" sz="2800" dirty="0">
                <a:latin typeface="Nunito" pitchFamily="2" charset="0"/>
              </a:rPr>
              <a:t>→ Scatter plot</a:t>
            </a:r>
            <a:endParaRPr lang="en-US" sz="2799" dirty="0">
              <a:solidFill>
                <a:srgbClr val="000000"/>
              </a:solidFill>
              <a:latin typeface="Nunito" pitchFamily="2" charset="0"/>
              <a:ea typeface="Nunito"/>
              <a:cs typeface="Nunito"/>
              <a:sym typeface="Nunito"/>
            </a:endParaRPr>
          </a:p>
        </p:txBody>
      </p:sp>
      <p:grpSp>
        <p:nvGrpSpPr>
          <p:cNvPr id="73" name="Group 17">
            <a:extLst>
              <a:ext uri="{FF2B5EF4-FFF2-40B4-BE49-F238E27FC236}">
                <a16:creationId xmlns:a16="http://schemas.microsoft.com/office/drawing/2014/main" id="{39D5E9E5-CF8E-64E6-862D-F5B2D99164B3}"/>
              </a:ext>
            </a:extLst>
          </p:cNvPr>
          <p:cNvGrpSpPr/>
          <p:nvPr/>
        </p:nvGrpSpPr>
        <p:grpSpPr>
          <a:xfrm>
            <a:off x="9101022" y="3091506"/>
            <a:ext cx="840118" cy="840118"/>
            <a:chOff x="0" y="0"/>
            <a:chExt cx="812800" cy="812800"/>
          </a:xfrm>
        </p:grpSpPr>
        <p:sp>
          <p:nvSpPr>
            <p:cNvPr id="74" name="Freeform 18">
              <a:extLst>
                <a:ext uri="{FF2B5EF4-FFF2-40B4-BE49-F238E27FC236}">
                  <a16:creationId xmlns:a16="http://schemas.microsoft.com/office/drawing/2014/main" id="{5863589E-D37D-C15B-6E1D-B25C37E920E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75" name="TextBox 19">
              <a:extLst>
                <a:ext uri="{FF2B5EF4-FFF2-40B4-BE49-F238E27FC236}">
                  <a16:creationId xmlns:a16="http://schemas.microsoft.com/office/drawing/2014/main" id="{E517924D-A446-F8CA-19F4-855A6456343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76" name="TextBox 23">
            <a:extLst>
              <a:ext uri="{FF2B5EF4-FFF2-40B4-BE49-F238E27FC236}">
                <a16:creationId xmlns:a16="http://schemas.microsoft.com/office/drawing/2014/main" id="{79218393-C233-44C3-E560-662785192890}"/>
              </a:ext>
            </a:extLst>
          </p:cNvPr>
          <p:cNvSpPr txBox="1"/>
          <p:nvPr/>
        </p:nvSpPr>
        <p:spPr>
          <a:xfrm>
            <a:off x="9151157" y="3242325"/>
            <a:ext cx="739848" cy="481330"/>
          </a:xfrm>
          <a:prstGeom prst="rect">
            <a:avLst/>
          </a:prstGeom>
        </p:spPr>
        <p:txBody>
          <a:bodyPr lIns="0" tIns="0" rIns="0" bIns="0" rtlCol="0" anchor="t">
            <a:spAutoFit/>
          </a:bodyPr>
          <a:lstStyle/>
          <a:p>
            <a:pPr algn="ctr">
              <a:lnSpc>
                <a:spcPts val="3919"/>
              </a:lnSpc>
            </a:pPr>
            <a:r>
              <a:rPr lang="en-US" sz="2799" b="1" dirty="0">
                <a:solidFill>
                  <a:srgbClr val="FFFFFF"/>
                </a:solidFill>
                <a:latin typeface="Nunito Bold"/>
                <a:ea typeface="Nunito Bold"/>
                <a:cs typeface="Nunito Bold"/>
                <a:sym typeface="Nunito Bold"/>
              </a:rPr>
              <a:t>06</a:t>
            </a:r>
          </a:p>
        </p:txBody>
      </p:sp>
      <p:sp>
        <p:nvSpPr>
          <p:cNvPr id="77" name="TextBox 5">
            <a:extLst>
              <a:ext uri="{FF2B5EF4-FFF2-40B4-BE49-F238E27FC236}">
                <a16:creationId xmlns:a16="http://schemas.microsoft.com/office/drawing/2014/main" id="{9F1EAD40-19D5-A39E-67B4-32019FFE6FF3}"/>
              </a:ext>
            </a:extLst>
          </p:cNvPr>
          <p:cNvSpPr txBox="1"/>
          <p:nvPr/>
        </p:nvSpPr>
        <p:spPr>
          <a:xfrm>
            <a:off x="10140708" y="5960688"/>
            <a:ext cx="5175492" cy="2483372"/>
          </a:xfrm>
          <a:prstGeom prst="rect">
            <a:avLst/>
          </a:prstGeom>
        </p:spPr>
        <p:txBody>
          <a:bodyPr wrap="square" lIns="0" tIns="0" rIns="0" bIns="0" rtlCol="0" anchor="t">
            <a:spAutoFit/>
          </a:bodyPr>
          <a:lstStyle/>
          <a:p>
            <a:pPr algn="l">
              <a:lnSpc>
                <a:spcPts val="3919"/>
              </a:lnSpc>
            </a:pPr>
            <a:r>
              <a:rPr lang="en-US" sz="2799" b="1" dirty="0">
                <a:solidFill>
                  <a:srgbClr val="000000"/>
                </a:solidFill>
                <a:latin typeface="Nunito" pitchFamily="2" charset="0"/>
                <a:ea typeface="Nunito"/>
                <a:cs typeface="Nunito"/>
                <a:sym typeface="Nunito"/>
              </a:rPr>
              <a:t>Geospatial</a:t>
            </a:r>
          </a:p>
          <a:p>
            <a:pPr algn="l">
              <a:lnSpc>
                <a:spcPts val="3919"/>
              </a:lnSpc>
            </a:pPr>
            <a:r>
              <a:rPr lang="en-US" sz="2800" dirty="0">
                <a:latin typeface="Nunito" pitchFamily="2" charset="0"/>
              </a:rPr>
              <a:t>Displays data across geographic or spatial layouts e.g., population by state or floor</a:t>
            </a:r>
          </a:p>
          <a:p>
            <a:pPr algn="l">
              <a:lnSpc>
                <a:spcPts val="3919"/>
              </a:lnSpc>
            </a:pPr>
            <a:r>
              <a:rPr lang="en-US" sz="2799" dirty="0">
                <a:solidFill>
                  <a:srgbClr val="000000"/>
                </a:solidFill>
                <a:latin typeface="Nunito" pitchFamily="2" charset="0"/>
                <a:ea typeface="Nunito"/>
                <a:cs typeface="Nunito"/>
                <a:sym typeface="Nunito"/>
              </a:rPr>
              <a:t>→ Choropleth map, cartogram</a:t>
            </a:r>
          </a:p>
        </p:txBody>
      </p:sp>
      <p:grpSp>
        <p:nvGrpSpPr>
          <p:cNvPr id="78" name="Group 17">
            <a:extLst>
              <a:ext uri="{FF2B5EF4-FFF2-40B4-BE49-F238E27FC236}">
                <a16:creationId xmlns:a16="http://schemas.microsoft.com/office/drawing/2014/main" id="{CEA79908-B3B3-E517-6B71-8594E52EA0E7}"/>
              </a:ext>
            </a:extLst>
          </p:cNvPr>
          <p:cNvGrpSpPr/>
          <p:nvPr/>
        </p:nvGrpSpPr>
        <p:grpSpPr>
          <a:xfrm>
            <a:off x="9101022" y="6017838"/>
            <a:ext cx="840118" cy="840118"/>
            <a:chOff x="0" y="0"/>
            <a:chExt cx="812800" cy="812800"/>
          </a:xfrm>
        </p:grpSpPr>
        <p:sp>
          <p:nvSpPr>
            <p:cNvPr id="79" name="Freeform 18">
              <a:extLst>
                <a:ext uri="{FF2B5EF4-FFF2-40B4-BE49-F238E27FC236}">
                  <a16:creationId xmlns:a16="http://schemas.microsoft.com/office/drawing/2014/main" id="{443FB4F3-71FE-5E86-F75A-676F053830E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80" name="TextBox 19">
              <a:extLst>
                <a:ext uri="{FF2B5EF4-FFF2-40B4-BE49-F238E27FC236}">
                  <a16:creationId xmlns:a16="http://schemas.microsoft.com/office/drawing/2014/main" id="{822A93F5-3F1F-02EE-BBF5-71015CC527FF}"/>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1" name="TextBox 23">
            <a:extLst>
              <a:ext uri="{FF2B5EF4-FFF2-40B4-BE49-F238E27FC236}">
                <a16:creationId xmlns:a16="http://schemas.microsoft.com/office/drawing/2014/main" id="{E2550B43-6D40-130B-AA34-8663ABE9BDD5}"/>
              </a:ext>
            </a:extLst>
          </p:cNvPr>
          <p:cNvSpPr txBox="1"/>
          <p:nvPr/>
        </p:nvSpPr>
        <p:spPr>
          <a:xfrm>
            <a:off x="9151157" y="6168657"/>
            <a:ext cx="739848" cy="481330"/>
          </a:xfrm>
          <a:prstGeom prst="rect">
            <a:avLst/>
          </a:prstGeom>
        </p:spPr>
        <p:txBody>
          <a:bodyPr lIns="0" tIns="0" rIns="0" bIns="0" rtlCol="0" anchor="t">
            <a:spAutoFit/>
          </a:bodyPr>
          <a:lstStyle/>
          <a:p>
            <a:pPr algn="ctr">
              <a:lnSpc>
                <a:spcPts val="3919"/>
              </a:lnSpc>
            </a:pPr>
            <a:r>
              <a:rPr lang="en-US" sz="2799" b="1" dirty="0">
                <a:solidFill>
                  <a:srgbClr val="FFFFFF"/>
                </a:solidFill>
                <a:latin typeface="Nunito Bold"/>
                <a:ea typeface="Nunito Bold"/>
                <a:cs typeface="Nunito Bold"/>
                <a:sym typeface="Nunito Bold"/>
              </a:rPr>
              <a:t>08</a:t>
            </a:r>
          </a:p>
        </p:txBody>
      </p:sp>
    </p:spTree>
    <p:extLst>
      <p:ext uri="{BB962C8B-B14F-4D97-AF65-F5344CB8AC3E}">
        <p14:creationId xmlns:p14="http://schemas.microsoft.com/office/powerpoint/2010/main" val="1484778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a:extLst>
            <a:ext uri="{FF2B5EF4-FFF2-40B4-BE49-F238E27FC236}">
              <a16:creationId xmlns:a16="http://schemas.microsoft.com/office/drawing/2014/main" id="{57072574-4943-5C6E-D49A-AAE355892B0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D840168-DE29-C965-A2D1-38A91E05E361}"/>
              </a:ext>
            </a:extLst>
          </p:cNvPr>
          <p:cNvSpPr/>
          <p:nvPr/>
        </p:nvSpPr>
        <p:spPr>
          <a:xfrm>
            <a:off x="-2057400" y="-12589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a:extLst>
              <a:ext uri="{FF2B5EF4-FFF2-40B4-BE49-F238E27FC236}">
                <a16:creationId xmlns:a16="http://schemas.microsoft.com/office/drawing/2014/main" id="{9A87575F-1A84-EC54-920B-7CE7C252643E}"/>
              </a:ext>
            </a:extLst>
          </p:cNvPr>
          <p:cNvSpPr/>
          <p:nvPr/>
        </p:nvSpPr>
        <p:spPr>
          <a:xfrm>
            <a:off x="-1702233" y="-903796"/>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a:extLst>
              <a:ext uri="{FF2B5EF4-FFF2-40B4-BE49-F238E27FC236}">
                <a16:creationId xmlns:a16="http://schemas.microsoft.com/office/drawing/2014/main" id="{19A7EFBB-432A-A098-DA33-CD124AC302DB}"/>
              </a:ext>
            </a:extLst>
          </p:cNvPr>
          <p:cNvSpPr/>
          <p:nvPr/>
        </p:nvSpPr>
        <p:spPr>
          <a:xfrm>
            <a:off x="16230600" y="72009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a:extLst>
              <a:ext uri="{FF2B5EF4-FFF2-40B4-BE49-F238E27FC236}">
                <a16:creationId xmlns:a16="http://schemas.microsoft.com/office/drawing/2014/main" id="{1AEEE409-1C47-E9B5-FBE4-4DC9B585403F}"/>
              </a:ext>
            </a:extLst>
          </p:cNvPr>
          <p:cNvSpPr/>
          <p:nvPr/>
        </p:nvSpPr>
        <p:spPr>
          <a:xfrm>
            <a:off x="16585767" y="7556067"/>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a:extLst>
              <a:ext uri="{FF2B5EF4-FFF2-40B4-BE49-F238E27FC236}">
                <a16:creationId xmlns:a16="http://schemas.microsoft.com/office/drawing/2014/main" id="{7F9F3AC6-0094-80A2-1DA8-EF69BE2FE8AC}"/>
              </a:ext>
            </a:extLst>
          </p:cNvPr>
          <p:cNvGrpSpPr/>
          <p:nvPr/>
        </p:nvGrpSpPr>
        <p:grpSpPr>
          <a:xfrm>
            <a:off x="12319137" y="9258300"/>
            <a:ext cx="3911463" cy="3911463"/>
            <a:chOff x="0" y="0"/>
            <a:chExt cx="812800" cy="812800"/>
          </a:xfrm>
        </p:grpSpPr>
        <p:sp>
          <p:nvSpPr>
            <p:cNvPr id="7" name="Freeform 7">
              <a:extLst>
                <a:ext uri="{FF2B5EF4-FFF2-40B4-BE49-F238E27FC236}">
                  <a16:creationId xmlns:a16="http://schemas.microsoft.com/office/drawing/2014/main" id="{D46A186C-CE90-2ED0-41FD-B8E1DF687E9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8" name="TextBox 8">
              <a:extLst>
                <a:ext uri="{FF2B5EF4-FFF2-40B4-BE49-F238E27FC236}">
                  <a16:creationId xmlns:a16="http://schemas.microsoft.com/office/drawing/2014/main" id="{572087EF-492C-B630-6256-5C867E4C5360}"/>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643FEFD9-136E-415B-BFD4-4A8131118EBD}"/>
              </a:ext>
            </a:extLst>
          </p:cNvPr>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a:extLst>
              <a:ext uri="{FF2B5EF4-FFF2-40B4-BE49-F238E27FC236}">
                <a16:creationId xmlns:a16="http://schemas.microsoft.com/office/drawing/2014/main" id="{87A58C8C-70B3-819B-026D-A291F6286BDB}"/>
              </a:ext>
            </a:extLst>
          </p:cNvPr>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a:extLst>
              <a:ext uri="{FF2B5EF4-FFF2-40B4-BE49-F238E27FC236}">
                <a16:creationId xmlns:a16="http://schemas.microsoft.com/office/drawing/2014/main" id="{9A47F335-17B2-C4C5-12E0-FA5EAB2A7D81}"/>
              </a:ext>
            </a:extLst>
          </p:cNvPr>
          <p:cNvGrpSpPr/>
          <p:nvPr/>
        </p:nvGrpSpPr>
        <p:grpSpPr>
          <a:xfrm>
            <a:off x="2129385" y="-2859528"/>
            <a:ext cx="3911463" cy="3911463"/>
            <a:chOff x="0" y="0"/>
            <a:chExt cx="812800" cy="812800"/>
          </a:xfrm>
        </p:grpSpPr>
        <p:sp>
          <p:nvSpPr>
            <p:cNvPr id="12" name="Freeform 12">
              <a:extLst>
                <a:ext uri="{FF2B5EF4-FFF2-40B4-BE49-F238E27FC236}">
                  <a16:creationId xmlns:a16="http://schemas.microsoft.com/office/drawing/2014/main" id="{3831BBB7-4B31-D6BD-2882-10B91A47F1F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3" name="TextBox 13">
              <a:extLst>
                <a:ext uri="{FF2B5EF4-FFF2-40B4-BE49-F238E27FC236}">
                  <a16:creationId xmlns:a16="http://schemas.microsoft.com/office/drawing/2014/main" id="{DB1C6D6D-D2C5-D94B-BF05-BFBAF20F0CC2}"/>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3039709C-AB61-6887-358A-EE28C9FA9B9D}"/>
              </a:ext>
            </a:extLst>
          </p:cNvPr>
          <p:cNvSpPr txBox="1"/>
          <p:nvPr/>
        </p:nvSpPr>
        <p:spPr>
          <a:xfrm>
            <a:off x="0" y="1230454"/>
            <a:ext cx="18288000" cy="1469248"/>
          </a:xfrm>
          <a:prstGeom prst="rect">
            <a:avLst/>
          </a:prstGeom>
        </p:spPr>
        <p:txBody>
          <a:bodyPr wrap="square" lIns="0" tIns="0" rIns="0" bIns="0" rtlCol="0" anchor="t">
            <a:spAutoFit/>
          </a:bodyPr>
          <a:lstStyle/>
          <a:p>
            <a:pPr algn="ctr">
              <a:lnSpc>
                <a:spcPts val="12599"/>
              </a:lnSpc>
            </a:pPr>
            <a:r>
              <a:rPr lang="en-US" sz="9000" b="1" dirty="0">
                <a:solidFill>
                  <a:srgbClr val="000000"/>
                </a:solidFill>
                <a:latin typeface="Proxima Nova Bold"/>
                <a:ea typeface="Proxima Nova Bold"/>
                <a:cs typeface="Proxima Nova Bold"/>
                <a:sym typeface="Proxima Nova Bold"/>
              </a:rPr>
              <a:t>Tufte’s Principles</a:t>
            </a:r>
          </a:p>
        </p:txBody>
      </p:sp>
      <p:sp>
        <p:nvSpPr>
          <p:cNvPr id="15" name="TextBox 15">
            <a:extLst>
              <a:ext uri="{FF2B5EF4-FFF2-40B4-BE49-F238E27FC236}">
                <a16:creationId xmlns:a16="http://schemas.microsoft.com/office/drawing/2014/main" id="{D1EB5AC3-3478-B05F-A872-DADB20A3C541}"/>
              </a:ext>
            </a:extLst>
          </p:cNvPr>
          <p:cNvSpPr txBox="1"/>
          <p:nvPr/>
        </p:nvSpPr>
        <p:spPr>
          <a:xfrm>
            <a:off x="4057223" y="3388360"/>
            <a:ext cx="10173554" cy="4483920"/>
          </a:xfrm>
          <a:prstGeom prst="rect">
            <a:avLst/>
          </a:prstGeom>
        </p:spPr>
        <p:txBody>
          <a:bodyPr lIns="0" tIns="0" rIns="0" bIns="0" rtlCol="0" anchor="t">
            <a:spAutoFit/>
          </a:bodyPr>
          <a:lstStyle/>
          <a:p>
            <a:pPr algn="just">
              <a:lnSpc>
                <a:spcPts val="3919"/>
              </a:lnSpc>
            </a:pPr>
            <a:r>
              <a:rPr lang="en-US" sz="3200" dirty="0">
                <a:solidFill>
                  <a:srgbClr val="000000"/>
                </a:solidFill>
                <a:latin typeface="Nunito"/>
                <a:ea typeface="Nunito"/>
                <a:cs typeface="Nunito"/>
                <a:sym typeface="Nunito"/>
              </a:rPr>
              <a:t>Edward Tufte, a pioneer in data visualization, proposed a set of principles to guide the creation of </a:t>
            </a:r>
            <a:r>
              <a:rPr lang="en-US" sz="3200" b="1" dirty="0">
                <a:solidFill>
                  <a:srgbClr val="000000"/>
                </a:solidFill>
                <a:latin typeface="Nunito"/>
                <a:ea typeface="Nunito"/>
                <a:cs typeface="Nunito"/>
                <a:sym typeface="Nunito"/>
              </a:rPr>
              <a:t>clear</a:t>
            </a:r>
            <a:r>
              <a:rPr lang="en-US" sz="3200" dirty="0">
                <a:solidFill>
                  <a:srgbClr val="000000"/>
                </a:solidFill>
                <a:latin typeface="Nunito"/>
                <a:ea typeface="Nunito"/>
                <a:cs typeface="Nunito"/>
                <a:sym typeface="Nunito"/>
              </a:rPr>
              <a:t>, </a:t>
            </a:r>
            <a:r>
              <a:rPr lang="en-US" sz="3200" b="1" dirty="0">
                <a:solidFill>
                  <a:srgbClr val="000000"/>
                </a:solidFill>
                <a:latin typeface="Nunito"/>
                <a:ea typeface="Nunito"/>
                <a:cs typeface="Nunito"/>
                <a:sym typeface="Nunito"/>
              </a:rPr>
              <a:t>honest</a:t>
            </a:r>
            <a:r>
              <a:rPr lang="en-US" sz="3200" dirty="0">
                <a:solidFill>
                  <a:srgbClr val="000000"/>
                </a:solidFill>
                <a:latin typeface="Nunito"/>
                <a:ea typeface="Nunito"/>
                <a:cs typeface="Nunito"/>
                <a:sym typeface="Nunito"/>
              </a:rPr>
              <a:t>, and </a:t>
            </a:r>
            <a:r>
              <a:rPr lang="en-US" sz="3200" b="1" dirty="0">
                <a:solidFill>
                  <a:srgbClr val="000000"/>
                </a:solidFill>
                <a:latin typeface="Nunito"/>
                <a:ea typeface="Nunito"/>
                <a:cs typeface="Nunito"/>
                <a:sym typeface="Nunito"/>
              </a:rPr>
              <a:t>efficient</a:t>
            </a:r>
            <a:r>
              <a:rPr lang="en-US" sz="3200" dirty="0">
                <a:solidFill>
                  <a:srgbClr val="000000"/>
                </a:solidFill>
                <a:latin typeface="Nunito"/>
                <a:ea typeface="Nunito"/>
                <a:cs typeface="Nunito"/>
                <a:sym typeface="Nunito"/>
              </a:rPr>
              <a:t> visual representations of data. </a:t>
            </a:r>
          </a:p>
          <a:p>
            <a:pPr algn="just">
              <a:lnSpc>
                <a:spcPts val="3919"/>
              </a:lnSpc>
            </a:pPr>
            <a:endParaRPr lang="en-US" sz="3200" dirty="0">
              <a:solidFill>
                <a:srgbClr val="000000"/>
              </a:solidFill>
              <a:latin typeface="Nunito"/>
              <a:ea typeface="Nunito"/>
              <a:cs typeface="Nunito"/>
              <a:sym typeface="Nunito"/>
            </a:endParaRPr>
          </a:p>
          <a:p>
            <a:pPr algn="just">
              <a:lnSpc>
                <a:spcPts val="3919"/>
              </a:lnSpc>
            </a:pPr>
            <a:r>
              <a:rPr lang="en-US" sz="3200" dirty="0">
                <a:solidFill>
                  <a:srgbClr val="000000"/>
                </a:solidFill>
                <a:latin typeface="Nunito"/>
                <a:ea typeface="Nunito"/>
                <a:cs typeface="Nunito"/>
                <a:sym typeface="Nunito"/>
              </a:rPr>
              <a:t>He argued that graphics should communicate data directly and efficiently, without unnecessary decoration or distraction. Instead of focusing on design flair, Tufte advocated for visuals that induce the viewer to focus on the substance of the data itself.</a:t>
            </a:r>
          </a:p>
        </p:txBody>
      </p:sp>
    </p:spTree>
    <p:extLst>
      <p:ext uri="{BB962C8B-B14F-4D97-AF65-F5344CB8AC3E}">
        <p14:creationId xmlns:p14="http://schemas.microsoft.com/office/powerpoint/2010/main" val="4660888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a:extLst>
            <a:ext uri="{FF2B5EF4-FFF2-40B4-BE49-F238E27FC236}">
              <a16:creationId xmlns:a16="http://schemas.microsoft.com/office/drawing/2014/main" id="{F65DD12A-3AC7-A59A-1A97-A165C08E355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91801EC-92FA-646C-851E-6634FE4AD91C}"/>
              </a:ext>
            </a:extLst>
          </p:cNvPr>
          <p:cNvSpPr/>
          <p:nvPr/>
        </p:nvSpPr>
        <p:spPr>
          <a:xfrm>
            <a:off x="-2057400" y="-12589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a:extLst>
              <a:ext uri="{FF2B5EF4-FFF2-40B4-BE49-F238E27FC236}">
                <a16:creationId xmlns:a16="http://schemas.microsoft.com/office/drawing/2014/main" id="{02DB2CA8-DF62-FF73-3A2B-58B4F4EEFE8A}"/>
              </a:ext>
            </a:extLst>
          </p:cNvPr>
          <p:cNvSpPr/>
          <p:nvPr/>
        </p:nvSpPr>
        <p:spPr>
          <a:xfrm>
            <a:off x="-1702233" y="-903796"/>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a:extLst>
              <a:ext uri="{FF2B5EF4-FFF2-40B4-BE49-F238E27FC236}">
                <a16:creationId xmlns:a16="http://schemas.microsoft.com/office/drawing/2014/main" id="{05BD2648-3C0D-5298-08FD-6DDD599F150B}"/>
              </a:ext>
            </a:extLst>
          </p:cNvPr>
          <p:cNvSpPr/>
          <p:nvPr/>
        </p:nvSpPr>
        <p:spPr>
          <a:xfrm>
            <a:off x="16230600" y="72009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a:extLst>
              <a:ext uri="{FF2B5EF4-FFF2-40B4-BE49-F238E27FC236}">
                <a16:creationId xmlns:a16="http://schemas.microsoft.com/office/drawing/2014/main" id="{4D9B0CC6-AC0F-2FD4-DB02-3B717FF18D52}"/>
              </a:ext>
            </a:extLst>
          </p:cNvPr>
          <p:cNvSpPr/>
          <p:nvPr/>
        </p:nvSpPr>
        <p:spPr>
          <a:xfrm>
            <a:off x="16585767" y="7556067"/>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a:extLst>
              <a:ext uri="{FF2B5EF4-FFF2-40B4-BE49-F238E27FC236}">
                <a16:creationId xmlns:a16="http://schemas.microsoft.com/office/drawing/2014/main" id="{3BFF5D29-F0B6-09F3-1135-B9B0ACFB9D02}"/>
              </a:ext>
            </a:extLst>
          </p:cNvPr>
          <p:cNvGrpSpPr/>
          <p:nvPr/>
        </p:nvGrpSpPr>
        <p:grpSpPr>
          <a:xfrm>
            <a:off x="12319137" y="9258300"/>
            <a:ext cx="3911463" cy="3911463"/>
            <a:chOff x="0" y="0"/>
            <a:chExt cx="812800" cy="812800"/>
          </a:xfrm>
        </p:grpSpPr>
        <p:sp>
          <p:nvSpPr>
            <p:cNvPr id="7" name="Freeform 7">
              <a:extLst>
                <a:ext uri="{FF2B5EF4-FFF2-40B4-BE49-F238E27FC236}">
                  <a16:creationId xmlns:a16="http://schemas.microsoft.com/office/drawing/2014/main" id="{BD9E2A0E-C26C-224B-D03D-0DF4ECF9A12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8" name="TextBox 8">
              <a:extLst>
                <a:ext uri="{FF2B5EF4-FFF2-40B4-BE49-F238E27FC236}">
                  <a16:creationId xmlns:a16="http://schemas.microsoft.com/office/drawing/2014/main" id="{ABC4386E-363C-A638-5EF2-262596764A3E}"/>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7AFB028E-8447-B063-032F-6FF7A4BAA7EE}"/>
              </a:ext>
            </a:extLst>
          </p:cNvPr>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a:extLst>
              <a:ext uri="{FF2B5EF4-FFF2-40B4-BE49-F238E27FC236}">
                <a16:creationId xmlns:a16="http://schemas.microsoft.com/office/drawing/2014/main" id="{71B94079-99F2-4E67-D6B6-8F8C156A12FC}"/>
              </a:ext>
            </a:extLst>
          </p:cNvPr>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a:extLst>
              <a:ext uri="{FF2B5EF4-FFF2-40B4-BE49-F238E27FC236}">
                <a16:creationId xmlns:a16="http://schemas.microsoft.com/office/drawing/2014/main" id="{465AFC9B-4661-429E-F8C4-2E0BB0A51E36}"/>
              </a:ext>
            </a:extLst>
          </p:cNvPr>
          <p:cNvGrpSpPr/>
          <p:nvPr/>
        </p:nvGrpSpPr>
        <p:grpSpPr>
          <a:xfrm>
            <a:off x="2129385" y="-2859528"/>
            <a:ext cx="3911463" cy="3911463"/>
            <a:chOff x="0" y="0"/>
            <a:chExt cx="812800" cy="812800"/>
          </a:xfrm>
        </p:grpSpPr>
        <p:sp>
          <p:nvSpPr>
            <p:cNvPr id="12" name="Freeform 12">
              <a:extLst>
                <a:ext uri="{FF2B5EF4-FFF2-40B4-BE49-F238E27FC236}">
                  <a16:creationId xmlns:a16="http://schemas.microsoft.com/office/drawing/2014/main" id="{0DD20336-94B7-C905-7A67-742CEB3BB5B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3" name="TextBox 13">
              <a:extLst>
                <a:ext uri="{FF2B5EF4-FFF2-40B4-BE49-F238E27FC236}">
                  <a16:creationId xmlns:a16="http://schemas.microsoft.com/office/drawing/2014/main" id="{0A91817D-D768-FAAB-17CE-A72C8E45107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B4620BE8-B0E2-80B2-CA05-4033FC2C982F}"/>
              </a:ext>
            </a:extLst>
          </p:cNvPr>
          <p:cNvSpPr txBox="1"/>
          <p:nvPr/>
        </p:nvSpPr>
        <p:spPr>
          <a:xfrm>
            <a:off x="0" y="1230454"/>
            <a:ext cx="18288000" cy="1469248"/>
          </a:xfrm>
          <a:prstGeom prst="rect">
            <a:avLst/>
          </a:prstGeom>
        </p:spPr>
        <p:txBody>
          <a:bodyPr wrap="square" lIns="0" tIns="0" rIns="0" bIns="0" rtlCol="0" anchor="t">
            <a:spAutoFit/>
          </a:bodyPr>
          <a:lstStyle/>
          <a:p>
            <a:pPr algn="ctr">
              <a:lnSpc>
                <a:spcPts val="12599"/>
              </a:lnSpc>
            </a:pPr>
            <a:r>
              <a:rPr lang="en-US" sz="9000" b="1" dirty="0">
                <a:solidFill>
                  <a:srgbClr val="000000"/>
                </a:solidFill>
                <a:latin typeface="Proxima Nova Bold"/>
                <a:ea typeface="Proxima Nova Bold"/>
                <a:cs typeface="Proxima Nova Bold"/>
                <a:sym typeface="Proxima Nova Bold"/>
              </a:rPr>
              <a:t>Tufte’s Principles</a:t>
            </a:r>
          </a:p>
        </p:txBody>
      </p:sp>
      <p:sp>
        <p:nvSpPr>
          <p:cNvPr id="15" name="TextBox 15">
            <a:extLst>
              <a:ext uri="{FF2B5EF4-FFF2-40B4-BE49-F238E27FC236}">
                <a16:creationId xmlns:a16="http://schemas.microsoft.com/office/drawing/2014/main" id="{5AB486C2-0067-B9F7-EFB8-93A8252ADAB2}"/>
              </a:ext>
            </a:extLst>
          </p:cNvPr>
          <p:cNvSpPr txBox="1"/>
          <p:nvPr/>
        </p:nvSpPr>
        <p:spPr>
          <a:xfrm>
            <a:off x="2129385" y="3054903"/>
            <a:ext cx="14514182" cy="6001643"/>
          </a:xfrm>
          <a:prstGeom prst="rect">
            <a:avLst/>
          </a:prstGeom>
        </p:spPr>
        <p:txBody>
          <a:bodyPr wrap="square" lIns="0" tIns="0" rIns="0" bIns="0" rtlCol="0" anchor="t">
            <a:spAutoFit/>
          </a:bodyPr>
          <a:lstStyle/>
          <a:p>
            <a:pPr>
              <a:lnSpc>
                <a:spcPts val="3919"/>
              </a:lnSpc>
            </a:pPr>
            <a:r>
              <a:rPr lang="en-US" sz="2800" dirty="0">
                <a:solidFill>
                  <a:srgbClr val="000000"/>
                </a:solidFill>
                <a:latin typeface="Nunito"/>
                <a:ea typeface="Nunito"/>
                <a:cs typeface="Nunito"/>
                <a:sym typeface="Nunito"/>
              </a:rPr>
              <a:t>Tufte states that graphical displays should:</a:t>
            </a:r>
          </a:p>
          <a:p>
            <a:pPr>
              <a:lnSpc>
                <a:spcPts val="3919"/>
              </a:lnSpc>
            </a:pPr>
            <a:endParaRPr lang="en-US" sz="2800" dirty="0">
              <a:solidFill>
                <a:srgbClr val="000000"/>
              </a:solidFill>
              <a:latin typeface="Nunito"/>
              <a:ea typeface="Nunito"/>
              <a:cs typeface="Nunito"/>
              <a:sym typeface="Nunito"/>
            </a:endParaRPr>
          </a:p>
          <a:p>
            <a:pPr marL="457200" indent="-457200">
              <a:lnSpc>
                <a:spcPts val="3919"/>
              </a:lnSpc>
              <a:buFont typeface="Arial" panose="020B0604020202020204" pitchFamily="34" charset="0"/>
              <a:buChar char="•"/>
            </a:pPr>
            <a:r>
              <a:rPr lang="en-US" sz="2800" dirty="0">
                <a:solidFill>
                  <a:srgbClr val="000000"/>
                </a:solidFill>
                <a:latin typeface="Nunito"/>
                <a:ea typeface="Nunito"/>
                <a:cs typeface="Nunito"/>
                <a:sym typeface="Nunito"/>
              </a:rPr>
              <a:t>show the data</a:t>
            </a:r>
          </a:p>
          <a:p>
            <a:pPr marL="457200" indent="-457200">
              <a:lnSpc>
                <a:spcPts val="3919"/>
              </a:lnSpc>
              <a:buFont typeface="Arial" panose="020B0604020202020204" pitchFamily="34" charset="0"/>
              <a:buChar char="•"/>
            </a:pPr>
            <a:r>
              <a:rPr lang="en-US" sz="2800" dirty="0">
                <a:solidFill>
                  <a:srgbClr val="000000"/>
                </a:solidFill>
                <a:latin typeface="Nunito"/>
                <a:ea typeface="Nunito"/>
                <a:cs typeface="Nunito"/>
                <a:sym typeface="Nunito"/>
              </a:rPr>
              <a:t>induce the viewer to think about the substance rather than about methodology, graphic design, the technology of graphic production, or something else</a:t>
            </a:r>
          </a:p>
          <a:p>
            <a:pPr marL="457200" indent="-457200">
              <a:lnSpc>
                <a:spcPts val="3919"/>
              </a:lnSpc>
              <a:buFont typeface="Arial" panose="020B0604020202020204" pitchFamily="34" charset="0"/>
              <a:buChar char="•"/>
            </a:pPr>
            <a:r>
              <a:rPr lang="en-US" sz="2800" dirty="0">
                <a:solidFill>
                  <a:srgbClr val="000000"/>
                </a:solidFill>
                <a:latin typeface="Nunito"/>
                <a:ea typeface="Nunito"/>
                <a:cs typeface="Nunito"/>
                <a:sym typeface="Nunito"/>
              </a:rPr>
              <a:t>avoid distorting what the data has to say</a:t>
            </a:r>
          </a:p>
          <a:p>
            <a:pPr marL="457200" indent="-457200">
              <a:lnSpc>
                <a:spcPts val="3919"/>
              </a:lnSpc>
              <a:buFont typeface="Arial" panose="020B0604020202020204" pitchFamily="34" charset="0"/>
              <a:buChar char="•"/>
            </a:pPr>
            <a:r>
              <a:rPr lang="en-US" sz="2800" dirty="0">
                <a:solidFill>
                  <a:srgbClr val="000000"/>
                </a:solidFill>
                <a:latin typeface="Nunito"/>
                <a:ea typeface="Nunito"/>
                <a:cs typeface="Nunito"/>
                <a:sym typeface="Nunito"/>
              </a:rPr>
              <a:t>present many numbers in a small space</a:t>
            </a:r>
          </a:p>
          <a:p>
            <a:pPr marL="457200" indent="-457200">
              <a:lnSpc>
                <a:spcPts val="3919"/>
              </a:lnSpc>
              <a:buFont typeface="Arial" panose="020B0604020202020204" pitchFamily="34" charset="0"/>
              <a:buChar char="•"/>
            </a:pPr>
            <a:r>
              <a:rPr lang="en-US" sz="2800" dirty="0">
                <a:solidFill>
                  <a:srgbClr val="000000"/>
                </a:solidFill>
                <a:latin typeface="Nunito"/>
                <a:ea typeface="Nunito"/>
                <a:cs typeface="Nunito"/>
                <a:sym typeface="Nunito"/>
              </a:rPr>
              <a:t>make large data sets coherent</a:t>
            </a:r>
          </a:p>
          <a:p>
            <a:pPr marL="457200" indent="-457200">
              <a:lnSpc>
                <a:spcPts val="3919"/>
              </a:lnSpc>
              <a:buFont typeface="Arial" panose="020B0604020202020204" pitchFamily="34" charset="0"/>
              <a:buChar char="•"/>
            </a:pPr>
            <a:r>
              <a:rPr lang="en-US" sz="2800" dirty="0">
                <a:solidFill>
                  <a:srgbClr val="000000"/>
                </a:solidFill>
                <a:latin typeface="Nunito"/>
                <a:ea typeface="Nunito"/>
                <a:cs typeface="Nunito"/>
                <a:sym typeface="Nunito"/>
              </a:rPr>
              <a:t>encourage the eye to compare different pieces of data</a:t>
            </a:r>
          </a:p>
          <a:p>
            <a:pPr marL="457200" indent="-457200">
              <a:lnSpc>
                <a:spcPts val="3919"/>
              </a:lnSpc>
              <a:buFont typeface="Arial" panose="020B0604020202020204" pitchFamily="34" charset="0"/>
              <a:buChar char="•"/>
            </a:pPr>
            <a:r>
              <a:rPr lang="en-US" sz="2800" dirty="0">
                <a:solidFill>
                  <a:srgbClr val="000000"/>
                </a:solidFill>
                <a:latin typeface="Nunito"/>
                <a:ea typeface="Nunito"/>
                <a:cs typeface="Nunito"/>
                <a:sym typeface="Nunito"/>
              </a:rPr>
              <a:t>reveal the data at several levels of detail, from a broad overview to the fine structure</a:t>
            </a:r>
          </a:p>
          <a:p>
            <a:pPr marL="457200" indent="-457200">
              <a:lnSpc>
                <a:spcPts val="3919"/>
              </a:lnSpc>
              <a:buFont typeface="Arial" panose="020B0604020202020204" pitchFamily="34" charset="0"/>
              <a:buChar char="•"/>
            </a:pPr>
            <a:r>
              <a:rPr lang="en-US" sz="2800" dirty="0">
                <a:solidFill>
                  <a:srgbClr val="000000"/>
                </a:solidFill>
                <a:latin typeface="Nunito"/>
                <a:ea typeface="Nunito"/>
                <a:cs typeface="Nunito"/>
                <a:sym typeface="Nunito"/>
              </a:rPr>
              <a:t>serve a reasonably clear purpose: description, exploration, tabulation, or decoration</a:t>
            </a:r>
          </a:p>
          <a:p>
            <a:pPr marL="457200" indent="-457200">
              <a:lnSpc>
                <a:spcPts val="3919"/>
              </a:lnSpc>
              <a:buFont typeface="Arial" panose="020B0604020202020204" pitchFamily="34" charset="0"/>
              <a:buChar char="•"/>
            </a:pPr>
            <a:r>
              <a:rPr lang="en-US" sz="2800" dirty="0">
                <a:solidFill>
                  <a:srgbClr val="000000"/>
                </a:solidFill>
                <a:latin typeface="Nunito"/>
                <a:ea typeface="Nunito"/>
                <a:cs typeface="Nunito"/>
                <a:sym typeface="Nunito"/>
              </a:rPr>
              <a:t>be closely integrated with the statistical and verbal descriptions of a data set.</a:t>
            </a:r>
          </a:p>
        </p:txBody>
      </p:sp>
    </p:spTree>
    <p:extLst>
      <p:ext uri="{BB962C8B-B14F-4D97-AF65-F5344CB8AC3E}">
        <p14:creationId xmlns:p14="http://schemas.microsoft.com/office/powerpoint/2010/main" val="3986773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2057400" y="-12589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702233" y="-903796"/>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6230600" y="72009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6585767" y="7556067"/>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2319137" y="9258300"/>
            <a:ext cx="3911463" cy="391146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2129385" y="-2859528"/>
            <a:ext cx="3911463" cy="3911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4013131" y="3908425"/>
            <a:ext cx="10261737" cy="2222501"/>
          </a:xfrm>
          <a:prstGeom prst="rect">
            <a:avLst/>
          </a:prstGeom>
        </p:spPr>
        <p:txBody>
          <a:bodyPr lIns="0" tIns="0" rIns="0" bIns="0" rtlCol="0" anchor="t">
            <a:spAutoFit/>
          </a:bodyPr>
          <a:lstStyle/>
          <a:p>
            <a:pPr algn="ctr">
              <a:lnSpc>
                <a:spcPts val="18199"/>
              </a:lnSpc>
            </a:pPr>
            <a:r>
              <a:rPr lang="en-US" sz="12999" b="1">
                <a:solidFill>
                  <a:srgbClr val="000000"/>
                </a:solidFill>
                <a:latin typeface="Proxima Nova Bold"/>
                <a:ea typeface="Proxima Nova Bold"/>
                <a:cs typeface="Proxima Nova Bold"/>
                <a:sym typeface="Proxima Nova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200</TotalTime>
  <Words>832</Words>
  <Application>Microsoft Office PowerPoint</Application>
  <PresentationFormat>Custom</PresentationFormat>
  <Paragraphs>100</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Nunito</vt:lpstr>
      <vt:lpstr>Nunito Bold</vt:lpstr>
      <vt:lpstr>Arial</vt:lpstr>
      <vt:lpstr>Proxima Nova Bold</vt:lpstr>
      <vt:lpstr>Tenorite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Grey Black Minimalist Simple Project Presentation</dc:title>
  <cp:lastModifiedBy>user</cp:lastModifiedBy>
  <cp:revision>3</cp:revision>
  <dcterms:created xsi:type="dcterms:W3CDTF">2006-08-16T00:00:00Z</dcterms:created>
  <dcterms:modified xsi:type="dcterms:W3CDTF">2025-07-21T18:52:58Z</dcterms:modified>
  <dc:identifier>DAGtz2jbHNE</dc:identifier>
</cp:coreProperties>
</file>